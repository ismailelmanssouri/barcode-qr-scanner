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Poppins Light" panose="00000400000000000000" pitchFamily="2" charset="0"/>
      <p:regular r:id="rId11"/>
    </p:embeddedFont>
    <p:embeddedFont>
      <p:font typeface="Roboto Light" panose="02000000000000000000" pitchFamily="2"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53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txBody>
          <a:bodyPr/>
          <a:lstStyle/>
          <a:p>
            <a:endParaRPr lang="en-US"/>
          </a:p>
        </p:txBody>
      </p:sp>
      <p:sp>
        <p:nvSpPr>
          <p:cNvPr id="3" name="Shape 1"/>
          <p:cNvSpPr/>
          <p:nvPr/>
        </p:nvSpPr>
        <p:spPr>
          <a:xfrm>
            <a:off x="0" y="0"/>
            <a:ext cx="14630400" cy="8229600"/>
          </a:xfrm>
          <a:prstGeom prst="rect">
            <a:avLst/>
          </a:prstGeom>
          <a:solidFill>
            <a:srgbClr val="05050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9191A"/>
          </a:solidFill>
          <a:ln/>
        </p:spPr>
      </p:sp>
      <p:sp>
        <p:nvSpPr>
          <p:cNvPr id="3" name="Shape 1"/>
          <p:cNvSpPr/>
          <p:nvPr/>
        </p:nvSpPr>
        <p:spPr>
          <a:xfrm>
            <a:off x="0" y="0"/>
            <a:ext cx="14630400" cy="8229600"/>
          </a:xfrm>
          <a:prstGeom prst="rect">
            <a:avLst/>
          </a:prstGeom>
          <a:solidFill>
            <a:srgbClr val="05050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github.com/ismailelmanssouri/barcode-qr-scanner"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ismailelmanssouri/barcode-qr-scanner" TargetMode="External"/><Relationship Id="rId7" Type="http://schemas.openxmlformats.org/officeDocument/2006/relationships/image" Target="../media/image21.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087761"/>
            <a:ext cx="8049458"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Barcode &amp; QR Code Scanner</a:t>
            </a:r>
            <a:endParaRPr lang="en-US" sz="4450" dirty="0"/>
          </a:p>
        </p:txBody>
      </p:sp>
      <p:sp>
        <p:nvSpPr>
          <p:cNvPr id="3" name="Text 1"/>
          <p:cNvSpPr/>
          <p:nvPr/>
        </p:nvSpPr>
        <p:spPr>
          <a:xfrm>
            <a:off x="793790" y="2887266"/>
            <a:ext cx="3379470" cy="354330"/>
          </a:xfrm>
          <a:prstGeom prst="rect">
            <a:avLst/>
          </a:prstGeom>
          <a:noFill/>
          <a:ln/>
        </p:spPr>
        <p:txBody>
          <a:bodyPr wrap="none" lIns="0" tIns="0" rIns="0" bIns="0" rtlCol="0" anchor="t"/>
          <a:lstStyle/>
          <a:p>
            <a:pPr marL="0" indent="0" algn="l">
              <a:lnSpc>
                <a:spcPts val="2750"/>
              </a:lnSpc>
              <a:buNone/>
            </a:pPr>
            <a:r>
              <a:rPr lang="en-US" sz="2200" dirty="0">
                <a:solidFill>
                  <a:srgbClr val="F2F2F3"/>
                </a:solidFill>
                <a:latin typeface="Poppins Light" pitchFamily="34" charset="0"/>
                <a:ea typeface="Poppins Light" pitchFamily="34" charset="-122"/>
                <a:cs typeface="Poppins Light" pitchFamily="34" charset="-120"/>
              </a:rPr>
              <a:t>Computer Vision Project</a:t>
            </a:r>
            <a:endParaRPr lang="en-US" sz="2200" dirty="0"/>
          </a:p>
        </p:txBody>
      </p:sp>
      <p:sp>
        <p:nvSpPr>
          <p:cNvPr id="4" name="Text 2"/>
          <p:cNvSpPr/>
          <p:nvPr/>
        </p:nvSpPr>
        <p:spPr>
          <a:xfrm>
            <a:off x="793790" y="3581757"/>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Big Data &amp; AI Engineering — 2026</a:t>
            </a:r>
            <a:endParaRPr lang="en-US" sz="1750" dirty="0"/>
          </a:p>
        </p:txBody>
      </p:sp>
      <p:pic>
        <p:nvPicPr>
          <p:cNvPr id="5" name="Image 0" descr="preencoded.png"/>
          <p:cNvPicPr>
            <a:picLocks noChangeAspect="1"/>
          </p:cNvPicPr>
          <p:nvPr/>
        </p:nvPicPr>
        <p:blipFill>
          <a:blip r:embed="rId3"/>
          <a:stretch>
            <a:fillRect/>
          </a:stretch>
        </p:blipFill>
        <p:spPr>
          <a:xfrm>
            <a:off x="793790" y="4199811"/>
            <a:ext cx="1205984" cy="745331"/>
          </a:xfrm>
          <a:prstGeom prst="rect">
            <a:avLst/>
          </a:prstGeom>
        </p:spPr>
      </p:pic>
      <p:sp>
        <p:nvSpPr>
          <p:cNvPr id="6" name="Text 3"/>
          <p:cNvSpPr/>
          <p:nvPr/>
        </p:nvSpPr>
        <p:spPr>
          <a:xfrm>
            <a:off x="2283262" y="4199811"/>
            <a:ext cx="2669143"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Team</a:t>
            </a:r>
            <a:endParaRPr lang="en-US" sz="2200" dirty="0"/>
          </a:p>
        </p:txBody>
      </p:sp>
      <p:sp>
        <p:nvSpPr>
          <p:cNvPr id="7" name="Text 4"/>
          <p:cNvSpPr/>
          <p:nvPr/>
        </p:nvSpPr>
        <p:spPr>
          <a:xfrm>
            <a:off x="2283262" y="4690229"/>
            <a:ext cx="2669143"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EL MANSSOURI Ismail</a:t>
            </a:r>
            <a:endParaRPr lang="en-US" sz="1750" dirty="0"/>
          </a:p>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EL AZIZI Mohamed Taha</a:t>
            </a:r>
            <a:endParaRPr lang="en-US" sz="1750" dirty="0"/>
          </a:p>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IBENOUAZI Ismail</a:t>
            </a:r>
            <a:endParaRPr lang="en-US" sz="1750" dirty="0"/>
          </a:p>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EL KHAYATI Mouataze</a:t>
            </a:r>
            <a:endParaRPr lang="en-US" sz="1750" dirty="0"/>
          </a:p>
        </p:txBody>
      </p:sp>
      <p:pic>
        <p:nvPicPr>
          <p:cNvPr id="8" name="Image 1" descr="preencoded.png"/>
          <p:cNvPicPr>
            <a:picLocks noChangeAspect="1"/>
          </p:cNvPicPr>
          <p:nvPr/>
        </p:nvPicPr>
        <p:blipFill>
          <a:blip r:embed="rId4"/>
          <a:stretch>
            <a:fillRect/>
          </a:stretch>
        </p:blipFill>
        <p:spPr>
          <a:xfrm>
            <a:off x="5235893" y="4199811"/>
            <a:ext cx="1205984" cy="745331"/>
          </a:xfrm>
          <a:prstGeom prst="rect">
            <a:avLst/>
          </a:prstGeom>
        </p:spPr>
      </p:pic>
      <p:sp>
        <p:nvSpPr>
          <p:cNvPr id="9" name="Text 5"/>
          <p:cNvSpPr/>
          <p:nvPr/>
        </p:nvSpPr>
        <p:spPr>
          <a:xfrm>
            <a:off x="6725364" y="4199811"/>
            <a:ext cx="2669143"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GitHub</a:t>
            </a:r>
            <a:endParaRPr lang="en-US" sz="2200" dirty="0"/>
          </a:p>
        </p:txBody>
      </p:sp>
      <p:sp>
        <p:nvSpPr>
          <p:cNvPr id="10" name="Text 6"/>
          <p:cNvSpPr/>
          <p:nvPr/>
        </p:nvSpPr>
        <p:spPr>
          <a:xfrm>
            <a:off x="6725364" y="4690229"/>
            <a:ext cx="2669143" cy="725805"/>
          </a:xfrm>
          <a:prstGeom prst="rect">
            <a:avLst/>
          </a:prstGeom>
          <a:noFill/>
          <a:ln/>
        </p:spPr>
        <p:txBody>
          <a:bodyPr wrap="square" lIns="0" tIns="0" rIns="0" bIns="0" rtlCol="0" anchor="t"/>
          <a:lstStyle/>
          <a:p>
            <a:pPr marL="0" indent="0" algn="l">
              <a:lnSpc>
                <a:spcPts val="2850"/>
              </a:lnSpc>
              <a:buNone/>
            </a:pPr>
            <a:r>
              <a:rPr lang="en-US" sz="1750" u="sng" dirty="0">
                <a:solidFill>
                  <a:srgbClr val="F2F2F3"/>
                </a:solidFill>
                <a:latin typeface="Roboto Light" pitchFamily="34" charset="0"/>
                <a:ea typeface="Roboto Light" pitchFamily="34" charset="-122"/>
                <a:cs typeface="Roboto Light" pitchFamily="34" charset="-120"/>
                <a:hlinkClick r:id="rId5">
                  <a:extLst>
                    <a:ext uri="{A12FA001-AC4F-418D-AE19-62706E023703}">
                      <ahyp:hlinkClr xmlns:ahyp="http://schemas.microsoft.com/office/drawing/2018/hyperlinkcolor" val="tx"/>
                    </a:ext>
                  </a:extLst>
                </a:hlinkClick>
              </a:rPr>
              <a:t>github.com/ismailelmanssouri/barcode-qr-scanner</a:t>
            </a:r>
            <a:endParaRPr lang="en-US" sz="1750" dirty="0"/>
          </a:p>
        </p:txBody>
      </p:sp>
      <p:pic>
        <p:nvPicPr>
          <p:cNvPr id="11" name="Image 2" descr="preencoded.png"/>
          <p:cNvPicPr>
            <a:picLocks noChangeAspect="1"/>
          </p:cNvPicPr>
          <p:nvPr/>
        </p:nvPicPr>
        <p:blipFill>
          <a:blip r:embed="rId6"/>
          <a:stretch>
            <a:fillRect/>
          </a:stretch>
        </p:blipFill>
        <p:spPr>
          <a:xfrm>
            <a:off x="9677995" y="4199811"/>
            <a:ext cx="1205984" cy="745331"/>
          </a:xfrm>
          <a:prstGeom prst="rect">
            <a:avLst/>
          </a:prstGeom>
        </p:spPr>
      </p:pic>
      <p:sp>
        <p:nvSpPr>
          <p:cNvPr id="12" name="Text 7"/>
          <p:cNvSpPr/>
          <p:nvPr/>
        </p:nvSpPr>
        <p:spPr>
          <a:xfrm>
            <a:off x="11167467" y="4199811"/>
            <a:ext cx="2669143"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Tech Stack</a:t>
            </a:r>
            <a:endParaRPr lang="en-US" sz="2200" dirty="0"/>
          </a:p>
        </p:txBody>
      </p:sp>
      <p:sp>
        <p:nvSpPr>
          <p:cNvPr id="13" name="Text 8"/>
          <p:cNvSpPr/>
          <p:nvPr/>
        </p:nvSpPr>
        <p:spPr>
          <a:xfrm>
            <a:off x="11167467" y="4690229"/>
            <a:ext cx="2669143"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Python · OpenCV · pyzbar · Tkinter</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74276"/>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Project Overview</a:t>
            </a:r>
            <a:endParaRPr lang="en-US" sz="4450" dirty="0"/>
          </a:p>
        </p:txBody>
      </p:sp>
      <p:sp>
        <p:nvSpPr>
          <p:cNvPr id="3" name="Text 1"/>
          <p:cNvSpPr/>
          <p:nvPr/>
        </p:nvSpPr>
        <p:spPr>
          <a:xfrm>
            <a:off x="793790" y="203668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This project builds a robust computer vision pipeline to detect, localize, and decode both QR codes and several barcode formats from images and desktop input. It's designed for reliability, clarity of results, and easy extension to video or cloud workflows.</a:t>
            </a:r>
            <a:endParaRPr lang="en-US" sz="1750" dirty="0"/>
          </a:p>
        </p:txBody>
      </p:sp>
      <p:pic>
        <p:nvPicPr>
          <p:cNvPr id="4" name="Image 0" descr="preencoded.png"/>
          <p:cNvPicPr>
            <a:picLocks noChangeAspect="1"/>
          </p:cNvPicPr>
          <p:nvPr/>
        </p:nvPicPr>
        <p:blipFill>
          <a:blip r:embed="rId3"/>
          <a:stretch>
            <a:fillRect/>
          </a:stretch>
        </p:blipFill>
        <p:spPr>
          <a:xfrm>
            <a:off x="793790" y="3017639"/>
            <a:ext cx="670560" cy="670560"/>
          </a:xfrm>
          <a:prstGeom prst="rect">
            <a:avLst/>
          </a:prstGeom>
        </p:spPr>
      </p:pic>
      <p:sp>
        <p:nvSpPr>
          <p:cNvPr id="5" name="Text 2"/>
          <p:cNvSpPr/>
          <p:nvPr/>
        </p:nvSpPr>
        <p:spPr>
          <a:xfrm>
            <a:off x="1747838" y="3017639"/>
            <a:ext cx="2093952"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Detect</a:t>
            </a:r>
            <a:endParaRPr lang="en-US" sz="2200" dirty="0"/>
          </a:p>
        </p:txBody>
      </p:sp>
      <p:sp>
        <p:nvSpPr>
          <p:cNvPr id="6" name="Text 3"/>
          <p:cNvSpPr/>
          <p:nvPr/>
        </p:nvSpPr>
        <p:spPr>
          <a:xfrm>
            <a:off x="1747838" y="3508058"/>
            <a:ext cx="2093952"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Find QR codes &amp; barcodes in any image — single or multiple codes.</a:t>
            </a:r>
            <a:endParaRPr lang="en-US" sz="1750" dirty="0"/>
          </a:p>
        </p:txBody>
      </p:sp>
      <p:pic>
        <p:nvPicPr>
          <p:cNvPr id="7" name="Image 1" descr="preencoded.png"/>
          <p:cNvPicPr>
            <a:picLocks noChangeAspect="1"/>
          </p:cNvPicPr>
          <p:nvPr/>
        </p:nvPicPr>
        <p:blipFill>
          <a:blip r:embed="rId4"/>
          <a:stretch>
            <a:fillRect/>
          </a:stretch>
        </p:blipFill>
        <p:spPr>
          <a:xfrm>
            <a:off x="4125278" y="3017639"/>
            <a:ext cx="670560" cy="670560"/>
          </a:xfrm>
          <a:prstGeom prst="rect">
            <a:avLst/>
          </a:prstGeom>
        </p:spPr>
      </p:pic>
      <p:sp>
        <p:nvSpPr>
          <p:cNvPr id="8" name="Text 4"/>
          <p:cNvSpPr/>
          <p:nvPr/>
        </p:nvSpPr>
        <p:spPr>
          <a:xfrm>
            <a:off x="5079325" y="3017639"/>
            <a:ext cx="2094071"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Localize</a:t>
            </a:r>
            <a:endParaRPr lang="en-US" sz="2200" dirty="0"/>
          </a:p>
        </p:txBody>
      </p:sp>
      <p:sp>
        <p:nvSpPr>
          <p:cNvPr id="9" name="Text 5"/>
          <p:cNvSpPr/>
          <p:nvPr/>
        </p:nvSpPr>
        <p:spPr>
          <a:xfrm>
            <a:off x="5079325" y="3508058"/>
            <a:ext cx="2094071"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Draw bounding boxes and precise polygons around detected codes.</a:t>
            </a:r>
            <a:endParaRPr lang="en-US" sz="1750" dirty="0"/>
          </a:p>
        </p:txBody>
      </p:sp>
      <p:pic>
        <p:nvPicPr>
          <p:cNvPr id="10" name="Image 2" descr="preencoded.png"/>
          <p:cNvPicPr>
            <a:picLocks noChangeAspect="1"/>
          </p:cNvPicPr>
          <p:nvPr/>
        </p:nvPicPr>
        <p:blipFill>
          <a:blip r:embed="rId5"/>
          <a:stretch>
            <a:fillRect/>
          </a:stretch>
        </p:blipFill>
        <p:spPr>
          <a:xfrm>
            <a:off x="7456884" y="3017639"/>
            <a:ext cx="670560" cy="670560"/>
          </a:xfrm>
          <a:prstGeom prst="rect">
            <a:avLst/>
          </a:prstGeom>
        </p:spPr>
      </p:pic>
      <p:sp>
        <p:nvSpPr>
          <p:cNvPr id="11" name="Text 6"/>
          <p:cNvSpPr/>
          <p:nvPr/>
        </p:nvSpPr>
        <p:spPr>
          <a:xfrm>
            <a:off x="8410932" y="3017639"/>
            <a:ext cx="2094071"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Decode</a:t>
            </a:r>
            <a:endParaRPr lang="en-US" sz="2200" dirty="0"/>
          </a:p>
        </p:txBody>
      </p:sp>
      <p:sp>
        <p:nvSpPr>
          <p:cNvPr id="12" name="Text 7"/>
          <p:cNvSpPr/>
          <p:nvPr/>
        </p:nvSpPr>
        <p:spPr>
          <a:xfrm>
            <a:off x="8410932" y="3508058"/>
            <a:ext cx="2094071"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Extract embedded text, URLs, and structured data using pyzbar.</a:t>
            </a:r>
            <a:endParaRPr lang="en-US" sz="1750" dirty="0"/>
          </a:p>
        </p:txBody>
      </p:sp>
      <p:pic>
        <p:nvPicPr>
          <p:cNvPr id="13" name="Image 3" descr="preencoded.png"/>
          <p:cNvPicPr>
            <a:picLocks noChangeAspect="1"/>
          </p:cNvPicPr>
          <p:nvPr/>
        </p:nvPicPr>
        <p:blipFill>
          <a:blip r:embed="rId6"/>
          <a:stretch>
            <a:fillRect/>
          </a:stretch>
        </p:blipFill>
        <p:spPr>
          <a:xfrm>
            <a:off x="10788491" y="3017639"/>
            <a:ext cx="670560" cy="670560"/>
          </a:xfrm>
          <a:prstGeom prst="rect">
            <a:avLst/>
          </a:prstGeom>
        </p:spPr>
      </p:pic>
      <p:sp>
        <p:nvSpPr>
          <p:cNvPr id="14" name="Text 8"/>
          <p:cNvSpPr/>
          <p:nvPr/>
        </p:nvSpPr>
        <p:spPr>
          <a:xfrm>
            <a:off x="11742539" y="3017639"/>
            <a:ext cx="2094071"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GUI App</a:t>
            </a:r>
            <a:endParaRPr lang="en-US" sz="2200" dirty="0"/>
          </a:p>
        </p:txBody>
      </p:sp>
      <p:sp>
        <p:nvSpPr>
          <p:cNvPr id="15" name="Text 9"/>
          <p:cNvSpPr/>
          <p:nvPr/>
        </p:nvSpPr>
        <p:spPr>
          <a:xfrm>
            <a:off x="11742539" y="3508058"/>
            <a:ext cx="2094071"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Interactive desktop application for live testing and export.</a:t>
            </a:r>
            <a:endParaRPr lang="en-US" sz="1750" dirty="0"/>
          </a:p>
        </p:txBody>
      </p:sp>
      <p:pic>
        <p:nvPicPr>
          <p:cNvPr id="16" name="Image 4" descr="preencoded.png"/>
          <p:cNvPicPr>
            <a:picLocks noChangeAspect="1"/>
          </p:cNvPicPr>
          <p:nvPr/>
        </p:nvPicPr>
        <p:blipFill>
          <a:blip r:embed="rId7"/>
          <a:stretch>
            <a:fillRect/>
          </a:stretch>
        </p:blipFill>
        <p:spPr>
          <a:xfrm>
            <a:off x="793790" y="5413296"/>
            <a:ext cx="670560" cy="670560"/>
          </a:xfrm>
          <a:prstGeom prst="rect">
            <a:avLst/>
          </a:prstGeom>
        </p:spPr>
      </p:pic>
      <p:sp>
        <p:nvSpPr>
          <p:cNvPr id="17" name="Text 10"/>
          <p:cNvSpPr/>
          <p:nvPr/>
        </p:nvSpPr>
        <p:spPr>
          <a:xfrm>
            <a:off x="1747838" y="5413296"/>
            <a:ext cx="2093952"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Export</a:t>
            </a:r>
            <a:endParaRPr lang="en-US" sz="2200" dirty="0"/>
          </a:p>
        </p:txBody>
      </p:sp>
      <p:sp>
        <p:nvSpPr>
          <p:cNvPr id="18" name="Text 11"/>
          <p:cNvSpPr/>
          <p:nvPr/>
        </p:nvSpPr>
        <p:spPr>
          <a:xfrm>
            <a:off x="1747838" y="5903714"/>
            <a:ext cx="2093952"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Save detection results to TXT and CSV for downstream analysis.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65096"/>
            <a:ext cx="7572018"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Computer Vision Concepts</a:t>
            </a:r>
            <a:endParaRPr lang="en-US" sz="4450" dirty="0"/>
          </a:p>
        </p:txBody>
      </p:sp>
      <p:sp>
        <p:nvSpPr>
          <p:cNvPr id="3" name="Text 1"/>
          <p:cNvSpPr/>
          <p:nvPr/>
        </p:nvSpPr>
        <p:spPr>
          <a:xfrm>
            <a:off x="793790" y="192750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Core image-processing techniques and decoding principles used in the scanner.</a:t>
            </a:r>
            <a:endParaRPr lang="en-US" sz="17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2545556"/>
            <a:ext cx="566976" cy="566976"/>
          </a:xfrm>
          <a:prstGeom prst="rect">
            <a:avLst/>
          </a:prstGeom>
        </p:spPr>
      </p:pic>
      <p:sp>
        <p:nvSpPr>
          <p:cNvPr id="5" name="Text 2"/>
          <p:cNvSpPr/>
          <p:nvPr/>
        </p:nvSpPr>
        <p:spPr>
          <a:xfrm>
            <a:off x="1644253" y="2545556"/>
            <a:ext cx="3082528"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Grayscale Conversion</a:t>
            </a:r>
            <a:endParaRPr lang="en-US" sz="2200" dirty="0"/>
          </a:p>
        </p:txBody>
      </p:sp>
      <p:sp>
        <p:nvSpPr>
          <p:cNvPr id="6" name="Text 3"/>
          <p:cNvSpPr/>
          <p:nvPr/>
        </p:nvSpPr>
        <p:spPr>
          <a:xfrm>
            <a:off x="1644253" y="3035975"/>
            <a:ext cx="5529143"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Reduces BGR image to one channel to simplify computation and reduce noise sensitivity.</a:t>
            </a:r>
            <a:endParaRPr lang="en-US" sz="17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56884" y="2545556"/>
            <a:ext cx="566976" cy="566976"/>
          </a:xfrm>
          <a:prstGeom prst="rect">
            <a:avLst/>
          </a:prstGeom>
        </p:spPr>
      </p:pic>
      <p:sp>
        <p:nvSpPr>
          <p:cNvPr id="8" name="Text 4"/>
          <p:cNvSpPr/>
          <p:nvPr/>
        </p:nvSpPr>
        <p:spPr>
          <a:xfrm>
            <a:off x="8307348" y="254555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Thresholding (Otsu)</a:t>
            </a:r>
            <a:endParaRPr lang="en-US" sz="2200" dirty="0"/>
          </a:p>
        </p:txBody>
      </p:sp>
      <p:sp>
        <p:nvSpPr>
          <p:cNvPr id="9" name="Text 5"/>
          <p:cNvSpPr/>
          <p:nvPr/>
        </p:nvSpPr>
        <p:spPr>
          <a:xfrm>
            <a:off x="8307348" y="3035975"/>
            <a:ext cx="5529263"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Converts gray pixels to binary (black/white); Otsu finds an optimal global threshold automatically.</a:t>
            </a:r>
            <a:endParaRPr lang="en-US" sz="17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790" y="4215408"/>
            <a:ext cx="566976" cy="566976"/>
          </a:xfrm>
          <a:prstGeom prst="rect">
            <a:avLst/>
          </a:prstGeom>
        </p:spPr>
      </p:pic>
      <p:sp>
        <p:nvSpPr>
          <p:cNvPr id="11" name="Text 6"/>
          <p:cNvSpPr/>
          <p:nvPr/>
        </p:nvSpPr>
        <p:spPr>
          <a:xfrm>
            <a:off x="1644253" y="4215408"/>
            <a:ext cx="3371850"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Edge Detection (Canny)</a:t>
            </a:r>
            <a:endParaRPr lang="en-US" sz="2200" dirty="0"/>
          </a:p>
        </p:txBody>
      </p:sp>
      <p:sp>
        <p:nvSpPr>
          <p:cNvPr id="12" name="Text 7"/>
          <p:cNvSpPr/>
          <p:nvPr/>
        </p:nvSpPr>
        <p:spPr>
          <a:xfrm>
            <a:off x="1644253" y="4705826"/>
            <a:ext cx="5529143"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Detects boundaries using Gaussian blur, Sobel gradients, non-maximum suppression, and hysteresis thresholds.</a:t>
            </a:r>
            <a:endParaRPr lang="en-US" sz="17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56884" y="4215408"/>
            <a:ext cx="566976" cy="566976"/>
          </a:xfrm>
          <a:prstGeom prst="rect">
            <a:avLst/>
          </a:prstGeom>
        </p:spPr>
      </p:pic>
      <p:sp>
        <p:nvSpPr>
          <p:cNvPr id="14" name="Text 8"/>
          <p:cNvSpPr/>
          <p:nvPr/>
        </p:nvSpPr>
        <p:spPr>
          <a:xfrm>
            <a:off x="8307348" y="421540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Contour Analysis</a:t>
            </a:r>
            <a:endParaRPr lang="en-US" sz="2200" dirty="0"/>
          </a:p>
        </p:txBody>
      </p:sp>
      <p:sp>
        <p:nvSpPr>
          <p:cNvPr id="15" name="Text 9"/>
          <p:cNvSpPr/>
          <p:nvPr/>
        </p:nvSpPr>
        <p:spPr>
          <a:xfrm>
            <a:off x="8307348" y="4705826"/>
            <a:ext cx="5529263"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Trace object contours to identify rectangular regions that likely contain codes.</a:t>
            </a:r>
            <a:endParaRPr lang="en-US" sz="17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3790" y="6248162"/>
            <a:ext cx="566976" cy="566976"/>
          </a:xfrm>
          <a:prstGeom prst="rect">
            <a:avLst/>
          </a:prstGeom>
        </p:spPr>
      </p:pic>
      <p:sp>
        <p:nvSpPr>
          <p:cNvPr id="17" name="Text 10"/>
          <p:cNvSpPr/>
          <p:nvPr/>
        </p:nvSpPr>
        <p:spPr>
          <a:xfrm>
            <a:off x="1644253" y="624816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Polygon Fitting</a:t>
            </a:r>
            <a:endParaRPr lang="en-US" sz="2200" dirty="0"/>
          </a:p>
        </p:txBody>
      </p:sp>
      <p:sp>
        <p:nvSpPr>
          <p:cNvPr id="18" name="Text 11"/>
          <p:cNvSpPr/>
          <p:nvPr/>
        </p:nvSpPr>
        <p:spPr>
          <a:xfrm>
            <a:off x="1644253" y="6738580"/>
            <a:ext cx="5529143"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Extracts exact corner points for precise localization — superior to axis-aligned bounding rectangles.</a:t>
            </a:r>
            <a:endParaRPr lang="en-US" sz="175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56884" y="6248162"/>
            <a:ext cx="566976" cy="566976"/>
          </a:xfrm>
          <a:prstGeom prst="rect">
            <a:avLst/>
          </a:prstGeom>
        </p:spPr>
      </p:pic>
      <p:sp>
        <p:nvSpPr>
          <p:cNvPr id="20" name="Text 12"/>
          <p:cNvSpPr/>
          <p:nvPr/>
        </p:nvSpPr>
        <p:spPr>
          <a:xfrm>
            <a:off x="8307348" y="624816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Pattern Matching</a:t>
            </a:r>
            <a:endParaRPr lang="en-US" sz="2200" dirty="0"/>
          </a:p>
        </p:txBody>
      </p:sp>
      <p:sp>
        <p:nvSpPr>
          <p:cNvPr id="21" name="Text 13"/>
          <p:cNvSpPr/>
          <p:nvPr/>
        </p:nvSpPr>
        <p:spPr>
          <a:xfrm>
            <a:off x="8307348" y="6738580"/>
            <a:ext cx="5529263"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pyzbar wraps ZBar for decoding; includes Reed–Solomon error correction for robust reading.</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21498" y="520422"/>
            <a:ext cx="3987165" cy="498396"/>
          </a:xfrm>
          <a:prstGeom prst="rect">
            <a:avLst/>
          </a:prstGeom>
          <a:noFill/>
          <a:ln/>
        </p:spPr>
        <p:txBody>
          <a:bodyPr wrap="none" lIns="0" tIns="0" rIns="0" bIns="0" rtlCol="0" anchor="t"/>
          <a:lstStyle/>
          <a:p>
            <a:pPr marL="0" indent="0" algn="ctr">
              <a:lnSpc>
                <a:spcPts val="3900"/>
              </a:lnSpc>
              <a:buNone/>
            </a:pPr>
            <a:r>
              <a:rPr lang="en-US" sz="3100" dirty="0">
                <a:solidFill>
                  <a:srgbClr val="F2F2F3"/>
                </a:solidFill>
                <a:latin typeface="Poppins Light" pitchFamily="34" charset="0"/>
                <a:ea typeface="Poppins Light" pitchFamily="34" charset="-122"/>
                <a:cs typeface="Poppins Light" pitchFamily="34" charset="-120"/>
              </a:rPr>
              <a:t>Detection Pipeline</a:t>
            </a:r>
            <a:endParaRPr lang="en-US" sz="3100" dirty="0"/>
          </a:p>
        </p:txBody>
      </p:sp>
      <p:pic>
        <p:nvPicPr>
          <p:cNvPr id="3" name="Image 0" descr="preencoded.png"/>
          <p:cNvPicPr>
            <a:picLocks noChangeAspect="1"/>
          </p:cNvPicPr>
          <p:nvPr/>
        </p:nvPicPr>
        <p:blipFill>
          <a:blip r:embed="rId3"/>
          <a:stretch>
            <a:fillRect/>
          </a:stretch>
        </p:blipFill>
        <p:spPr>
          <a:xfrm>
            <a:off x="4253627" y="1243013"/>
            <a:ext cx="6122908" cy="6122789"/>
          </a:xfrm>
          <a:prstGeom prst="rect">
            <a:avLst/>
          </a:prstGeom>
        </p:spPr>
      </p:pic>
      <p:sp>
        <p:nvSpPr>
          <p:cNvPr id="4" name="Text 1"/>
          <p:cNvSpPr/>
          <p:nvPr/>
        </p:nvSpPr>
        <p:spPr>
          <a:xfrm>
            <a:off x="4848335" y="2413916"/>
            <a:ext cx="1972885" cy="309499"/>
          </a:xfrm>
          <a:prstGeom prst="rect">
            <a:avLst/>
          </a:prstGeom>
          <a:noFill/>
          <a:ln/>
        </p:spPr>
        <p:txBody>
          <a:bodyPr wrap="none" lIns="0" tIns="0" rIns="0" bIns="0" rtlCol="0" anchor="t"/>
          <a:lstStyle/>
          <a:p>
            <a:pPr marL="0" indent="0" algn="ctr">
              <a:lnSpc>
                <a:spcPts val="2400"/>
              </a:lnSpc>
              <a:buNone/>
            </a:pPr>
            <a:r>
              <a:rPr lang="en-US" sz="1900" dirty="0">
                <a:solidFill>
                  <a:srgbClr val="000000"/>
                </a:solidFill>
                <a:latin typeface="Poppins Light" pitchFamily="34" charset="0"/>
                <a:ea typeface="Poppins Light" pitchFamily="34" charset="-122"/>
                <a:cs typeface="Poppins Light" pitchFamily="34" charset="-120"/>
              </a:rPr>
              <a:t>Load</a:t>
            </a:r>
            <a:endParaRPr lang="en-US" sz="1900" dirty="0"/>
          </a:p>
        </p:txBody>
      </p:sp>
      <p:sp>
        <p:nvSpPr>
          <p:cNvPr id="5" name="Text 2"/>
          <p:cNvSpPr/>
          <p:nvPr/>
        </p:nvSpPr>
        <p:spPr>
          <a:xfrm>
            <a:off x="4848335" y="2811451"/>
            <a:ext cx="1972885" cy="421607"/>
          </a:xfrm>
          <a:prstGeom prst="rect">
            <a:avLst/>
          </a:prstGeom>
          <a:noFill/>
          <a:ln/>
        </p:spPr>
        <p:txBody>
          <a:bodyPr wrap="square" lIns="0" tIns="0" rIns="0" bIns="0" rtlCol="0" anchor="t"/>
          <a:lstStyle/>
          <a:p>
            <a:pPr marL="0" indent="0" algn="ctr">
              <a:lnSpc>
                <a:spcPts val="1650"/>
              </a:lnSpc>
              <a:buNone/>
            </a:pPr>
            <a:r>
              <a:rPr lang="en-US" sz="1550" dirty="0">
                <a:solidFill>
                  <a:srgbClr val="000000"/>
                </a:solidFill>
                <a:latin typeface="Roboto Light" pitchFamily="34" charset="0"/>
                <a:ea typeface="Roboto Light" pitchFamily="34" charset="-122"/>
                <a:cs typeface="Roboto Light" pitchFamily="34" charset="-120"/>
              </a:rPr>
              <a:t>Read raw image with cv2.imread()</a:t>
            </a:r>
            <a:endParaRPr lang="en-US" sz="1550" dirty="0"/>
          </a:p>
        </p:txBody>
      </p:sp>
      <p:sp>
        <p:nvSpPr>
          <p:cNvPr id="6" name="Text 3"/>
          <p:cNvSpPr/>
          <p:nvPr/>
        </p:nvSpPr>
        <p:spPr>
          <a:xfrm>
            <a:off x="7819525" y="2413916"/>
            <a:ext cx="1972885" cy="309499"/>
          </a:xfrm>
          <a:prstGeom prst="rect">
            <a:avLst/>
          </a:prstGeom>
          <a:noFill/>
          <a:ln/>
        </p:spPr>
        <p:txBody>
          <a:bodyPr wrap="none" lIns="0" tIns="0" rIns="0" bIns="0" rtlCol="0" anchor="t"/>
          <a:lstStyle/>
          <a:p>
            <a:pPr marL="0" indent="0" algn="ctr">
              <a:lnSpc>
                <a:spcPts val="2400"/>
              </a:lnSpc>
              <a:buNone/>
            </a:pPr>
            <a:r>
              <a:rPr lang="en-US" sz="1900" dirty="0">
                <a:solidFill>
                  <a:srgbClr val="000000"/>
                </a:solidFill>
                <a:latin typeface="Poppins Light" pitchFamily="34" charset="0"/>
                <a:ea typeface="Poppins Light" pitchFamily="34" charset="-122"/>
                <a:cs typeface="Poppins Light" pitchFamily="34" charset="-120"/>
              </a:rPr>
              <a:t>Grayscale</a:t>
            </a:r>
            <a:endParaRPr lang="en-US" sz="1900" dirty="0"/>
          </a:p>
        </p:txBody>
      </p:sp>
      <p:sp>
        <p:nvSpPr>
          <p:cNvPr id="7" name="Text 4"/>
          <p:cNvSpPr/>
          <p:nvPr/>
        </p:nvSpPr>
        <p:spPr>
          <a:xfrm>
            <a:off x="7819525" y="2811451"/>
            <a:ext cx="1972885" cy="421607"/>
          </a:xfrm>
          <a:prstGeom prst="rect">
            <a:avLst/>
          </a:prstGeom>
          <a:noFill/>
          <a:ln/>
        </p:spPr>
        <p:txBody>
          <a:bodyPr wrap="square" lIns="0" tIns="0" rIns="0" bIns="0" rtlCol="0" anchor="t"/>
          <a:lstStyle/>
          <a:p>
            <a:pPr marL="0" indent="0" algn="ctr">
              <a:lnSpc>
                <a:spcPts val="1650"/>
              </a:lnSpc>
              <a:buNone/>
            </a:pPr>
            <a:r>
              <a:rPr lang="en-US" sz="1550" dirty="0">
                <a:solidFill>
                  <a:srgbClr val="000000"/>
                </a:solidFill>
                <a:latin typeface="Roboto Light" pitchFamily="34" charset="0"/>
                <a:ea typeface="Roboto Light" pitchFamily="34" charset="-122"/>
                <a:cs typeface="Roboto Light" pitchFamily="34" charset="-120"/>
              </a:rPr>
              <a:t>Convert to gray via cv2.cvtColor()</a:t>
            </a:r>
            <a:endParaRPr lang="en-US" sz="1550" dirty="0"/>
          </a:p>
        </p:txBody>
      </p:sp>
      <p:sp>
        <p:nvSpPr>
          <p:cNvPr id="8" name="Text 5"/>
          <p:cNvSpPr/>
          <p:nvPr/>
        </p:nvSpPr>
        <p:spPr>
          <a:xfrm>
            <a:off x="4848507" y="5384935"/>
            <a:ext cx="1972884" cy="309499"/>
          </a:xfrm>
          <a:prstGeom prst="rect">
            <a:avLst/>
          </a:prstGeom>
          <a:noFill/>
          <a:ln/>
        </p:spPr>
        <p:txBody>
          <a:bodyPr wrap="none" lIns="0" tIns="0" rIns="0" bIns="0" rtlCol="0" anchor="t"/>
          <a:lstStyle/>
          <a:p>
            <a:pPr marL="0" indent="0" algn="ctr">
              <a:lnSpc>
                <a:spcPts val="2400"/>
              </a:lnSpc>
              <a:buNone/>
            </a:pPr>
            <a:r>
              <a:rPr lang="en-US" sz="1900" dirty="0">
                <a:solidFill>
                  <a:srgbClr val="000000"/>
                </a:solidFill>
                <a:latin typeface="Poppins Light" pitchFamily="34" charset="0"/>
                <a:ea typeface="Poppins Light" pitchFamily="34" charset="-122"/>
                <a:cs typeface="Poppins Light" pitchFamily="34" charset="-120"/>
              </a:rPr>
              <a:t>Detect</a:t>
            </a:r>
            <a:endParaRPr lang="en-US" sz="1900" dirty="0"/>
          </a:p>
        </p:txBody>
      </p:sp>
      <p:sp>
        <p:nvSpPr>
          <p:cNvPr id="9" name="Text 6"/>
          <p:cNvSpPr/>
          <p:nvPr/>
        </p:nvSpPr>
        <p:spPr>
          <a:xfrm>
            <a:off x="4848507" y="5782470"/>
            <a:ext cx="1972884" cy="421607"/>
          </a:xfrm>
          <a:prstGeom prst="rect">
            <a:avLst/>
          </a:prstGeom>
          <a:noFill/>
          <a:ln/>
        </p:spPr>
        <p:txBody>
          <a:bodyPr wrap="square" lIns="0" tIns="0" rIns="0" bIns="0" rtlCol="0" anchor="t"/>
          <a:lstStyle/>
          <a:p>
            <a:pPr marL="0" indent="0" algn="ctr">
              <a:lnSpc>
                <a:spcPts val="1650"/>
              </a:lnSpc>
              <a:buNone/>
            </a:pPr>
            <a:r>
              <a:rPr lang="en-US" sz="1550" dirty="0">
                <a:solidFill>
                  <a:srgbClr val="000000"/>
                </a:solidFill>
                <a:latin typeface="Roboto Light" pitchFamily="34" charset="0"/>
                <a:ea typeface="Roboto Light" pitchFamily="34" charset="-122"/>
                <a:cs typeface="Roboto Light" pitchFamily="34" charset="-120"/>
              </a:rPr>
              <a:t>Find barcodes using pyzbar.decode()</a:t>
            </a:r>
            <a:endParaRPr lang="en-US" sz="1550" dirty="0"/>
          </a:p>
        </p:txBody>
      </p:sp>
      <p:sp>
        <p:nvSpPr>
          <p:cNvPr id="10" name="Text 7"/>
          <p:cNvSpPr/>
          <p:nvPr/>
        </p:nvSpPr>
        <p:spPr>
          <a:xfrm>
            <a:off x="7819525" y="5384935"/>
            <a:ext cx="1972885" cy="309499"/>
          </a:xfrm>
          <a:prstGeom prst="rect">
            <a:avLst/>
          </a:prstGeom>
          <a:noFill/>
          <a:ln/>
        </p:spPr>
        <p:txBody>
          <a:bodyPr wrap="none" lIns="0" tIns="0" rIns="0" bIns="0" rtlCol="0" anchor="t"/>
          <a:lstStyle/>
          <a:p>
            <a:pPr marL="0" indent="0" algn="ctr">
              <a:lnSpc>
                <a:spcPts val="2400"/>
              </a:lnSpc>
              <a:buNone/>
            </a:pPr>
            <a:r>
              <a:rPr lang="en-US" sz="1900" dirty="0">
                <a:solidFill>
                  <a:srgbClr val="000000"/>
                </a:solidFill>
                <a:latin typeface="Poppins Light" pitchFamily="34" charset="0"/>
                <a:ea typeface="Poppins Light" pitchFamily="34" charset="-122"/>
                <a:cs typeface="Poppins Light" pitchFamily="34" charset="-120"/>
              </a:rPr>
              <a:t>Localize</a:t>
            </a:r>
            <a:endParaRPr lang="en-US" sz="1900" dirty="0"/>
          </a:p>
        </p:txBody>
      </p:sp>
      <p:sp>
        <p:nvSpPr>
          <p:cNvPr id="11" name="Text 8"/>
          <p:cNvSpPr/>
          <p:nvPr/>
        </p:nvSpPr>
        <p:spPr>
          <a:xfrm>
            <a:off x="7819525" y="5782470"/>
            <a:ext cx="1972885" cy="421607"/>
          </a:xfrm>
          <a:prstGeom prst="rect">
            <a:avLst/>
          </a:prstGeom>
          <a:noFill/>
          <a:ln/>
        </p:spPr>
        <p:txBody>
          <a:bodyPr wrap="square" lIns="0" tIns="0" rIns="0" bIns="0" rtlCol="0" anchor="t"/>
          <a:lstStyle/>
          <a:p>
            <a:pPr marL="0" indent="0" algn="ctr">
              <a:lnSpc>
                <a:spcPts val="1650"/>
              </a:lnSpc>
              <a:buNone/>
            </a:pPr>
            <a:r>
              <a:rPr lang="en-US" sz="1550" dirty="0">
                <a:solidFill>
                  <a:srgbClr val="000000"/>
                </a:solidFill>
                <a:latin typeface="Roboto Light" pitchFamily="34" charset="0"/>
                <a:ea typeface="Roboto Light" pitchFamily="34" charset="-122"/>
                <a:cs typeface="Roboto Light" pitchFamily="34" charset="-120"/>
              </a:rPr>
              <a:t>Get polygon from code.polygon()</a:t>
            </a:r>
            <a:endParaRPr lang="en-US" sz="1550" dirty="0"/>
          </a:p>
        </p:txBody>
      </p:sp>
      <p:sp>
        <p:nvSpPr>
          <p:cNvPr id="12" name="Text 9"/>
          <p:cNvSpPr/>
          <p:nvPr/>
        </p:nvSpPr>
        <p:spPr>
          <a:xfrm>
            <a:off x="1812846" y="7491889"/>
            <a:ext cx="11004590" cy="217289"/>
          </a:xfrm>
          <a:prstGeom prst="rect">
            <a:avLst/>
          </a:prstGeom>
          <a:noFill/>
          <a:ln/>
        </p:spPr>
        <p:txBody>
          <a:bodyPr wrap="none" lIns="0" tIns="0" rIns="0" bIns="0" rtlCol="0" anchor="t"/>
          <a:lstStyle/>
          <a:p>
            <a:pPr marL="0" indent="0" algn="l">
              <a:lnSpc>
                <a:spcPts val="1700"/>
              </a:lnSpc>
              <a:buNone/>
            </a:pPr>
            <a:r>
              <a:rPr lang="en-US" sz="1250" dirty="0">
                <a:solidFill>
                  <a:srgbClr val="E5E0DF"/>
                </a:solidFill>
                <a:latin typeface="Roboto Light" pitchFamily="34" charset="0"/>
                <a:ea typeface="Roboto Light" pitchFamily="34" charset="-122"/>
                <a:cs typeface="Roboto Light" pitchFamily="34" charset="-120"/>
              </a:rPr>
              <a:t>Each stage transforms image data toward the final decoded output — from raw pixels to annotated images and structured data exports.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8594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Project Structure</a:t>
            </a:r>
            <a:endParaRPr lang="en-US" sz="4450" dirty="0"/>
          </a:p>
        </p:txBody>
      </p:sp>
      <p:sp>
        <p:nvSpPr>
          <p:cNvPr id="3" name="Text 1"/>
          <p:cNvSpPr/>
          <p:nvPr/>
        </p:nvSpPr>
        <p:spPr>
          <a:xfrm>
            <a:off x="793790" y="2048351"/>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Organized repository for development, demos, and documentation.</a:t>
            </a:r>
            <a:endParaRPr lang="en-US" sz="1750" dirty="0"/>
          </a:p>
        </p:txBody>
      </p:sp>
      <p:sp>
        <p:nvSpPr>
          <p:cNvPr id="4" name="Shape 2"/>
          <p:cNvSpPr/>
          <p:nvPr/>
        </p:nvSpPr>
        <p:spPr>
          <a:xfrm>
            <a:off x="793790" y="2666405"/>
            <a:ext cx="3090505" cy="2047994"/>
          </a:xfrm>
          <a:prstGeom prst="roundRect">
            <a:avLst>
              <a:gd name="adj" fmla="val 4652"/>
            </a:avLst>
          </a:prstGeom>
          <a:solidFill>
            <a:srgbClr val="3D3D42"/>
          </a:solidFill>
          <a:ln w="7620">
            <a:solidFill>
              <a:srgbClr val="56565B"/>
            </a:solidFill>
            <a:prstDash val="solid"/>
          </a:ln>
        </p:spPr>
        <p:txBody>
          <a:bodyPr/>
          <a:lstStyle/>
          <a:p>
            <a:endParaRPr lang="en-US"/>
          </a:p>
        </p:txBody>
      </p:sp>
      <p:sp>
        <p:nvSpPr>
          <p:cNvPr id="5" name="Text 3"/>
          <p:cNvSpPr/>
          <p:nvPr/>
        </p:nvSpPr>
        <p:spPr>
          <a:xfrm>
            <a:off x="1028224" y="2900839"/>
            <a:ext cx="2621637"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app.py</a:t>
            </a:r>
            <a:endParaRPr lang="en-US" sz="2200" dirty="0"/>
          </a:p>
        </p:txBody>
      </p:sp>
      <p:sp>
        <p:nvSpPr>
          <p:cNvPr id="6" name="Text 4"/>
          <p:cNvSpPr/>
          <p:nvPr/>
        </p:nvSpPr>
        <p:spPr>
          <a:xfrm>
            <a:off x="1028224" y="3391257"/>
            <a:ext cx="2621637"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GUI desktop application — live image input, annotate, save.</a:t>
            </a:r>
            <a:endParaRPr lang="en-US" sz="1750" dirty="0"/>
          </a:p>
        </p:txBody>
      </p:sp>
      <p:sp>
        <p:nvSpPr>
          <p:cNvPr id="7" name="Shape 5"/>
          <p:cNvSpPr/>
          <p:nvPr/>
        </p:nvSpPr>
        <p:spPr>
          <a:xfrm>
            <a:off x="4111109" y="2666405"/>
            <a:ext cx="3090624" cy="2047994"/>
          </a:xfrm>
          <a:prstGeom prst="roundRect">
            <a:avLst>
              <a:gd name="adj" fmla="val 4652"/>
            </a:avLst>
          </a:prstGeom>
          <a:solidFill>
            <a:srgbClr val="3D3D42"/>
          </a:solidFill>
          <a:ln w="7620">
            <a:solidFill>
              <a:srgbClr val="56565B"/>
            </a:solidFill>
            <a:prstDash val="solid"/>
          </a:ln>
        </p:spPr>
        <p:txBody>
          <a:bodyPr/>
          <a:lstStyle/>
          <a:p>
            <a:endParaRPr lang="en-US"/>
          </a:p>
        </p:txBody>
      </p:sp>
      <p:sp>
        <p:nvSpPr>
          <p:cNvPr id="8" name="Text 6"/>
          <p:cNvSpPr/>
          <p:nvPr/>
        </p:nvSpPr>
        <p:spPr>
          <a:xfrm>
            <a:off x="4345543" y="2900839"/>
            <a:ext cx="2621756"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scanner.py</a:t>
            </a:r>
            <a:endParaRPr lang="en-US" sz="2200" dirty="0"/>
          </a:p>
        </p:txBody>
      </p:sp>
      <p:sp>
        <p:nvSpPr>
          <p:cNvPr id="9" name="Text 7"/>
          <p:cNvSpPr/>
          <p:nvPr/>
        </p:nvSpPr>
        <p:spPr>
          <a:xfrm>
            <a:off x="4345543" y="3391257"/>
            <a:ext cx="2621756"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Core detection &amp; decoding functions used by utilities and the GUI.</a:t>
            </a:r>
            <a:endParaRPr lang="en-US" sz="1750" dirty="0"/>
          </a:p>
        </p:txBody>
      </p:sp>
      <p:sp>
        <p:nvSpPr>
          <p:cNvPr id="10" name="Shape 8"/>
          <p:cNvSpPr/>
          <p:nvPr/>
        </p:nvSpPr>
        <p:spPr>
          <a:xfrm>
            <a:off x="7428548" y="2666405"/>
            <a:ext cx="3090624" cy="2047994"/>
          </a:xfrm>
          <a:prstGeom prst="roundRect">
            <a:avLst>
              <a:gd name="adj" fmla="val 4652"/>
            </a:avLst>
          </a:prstGeom>
          <a:solidFill>
            <a:srgbClr val="3D3D42"/>
          </a:solidFill>
          <a:ln w="7620">
            <a:solidFill>
              <a:srgbClr val="56565B"/>
            </a:solidFill>
            <a:prstDash val="solid"/>
          </a:ln>
        </p:spPr>
        <p:txBody>
          <a:bodyPr/>
          <a:lstStyle/>
          <a:p>
            <a:endParaRPr lang="en-US"/>
          </a:p>
        </p:txBody>
      </p:sp>
      <p:sp>
        <p:nvSpPr>
          <p:cNvPr id="11" name="Text 9"/>
          <p:cNvSpPr/>
          <p:nvPr/>
        </p:nvSpPr>
        <p:spPr>
          <a:xfrm>
            <a:off x="7662982" y="2900839"/>
            <a:ext cx="2621756"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multi_scanner.py</a:t>
            </a:r>
            <a:endParaRPr lang="en-US" sz="2200" dirty="0"/>
          </a:p>
        </p:txBody>
      </p:sp>
      <p:sp>
        <p:nvSpPr>
          <p:cNvPr id="12" name="Text 10"/>
          <p:cNvSpPr/>
          <p:nvPr/>
        </p:nvSpPr>
        <p:spPr>
          <a:xfrm>
            <a:off x="7662982" y="3391257"/>
            <a:ext cx="2621756"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Detects multiple codes per image and assigns unique colors.</a:t>
            </a:r>
            <a:endParaRPr lang="en-US" sz="1750" dirty="0"/>
          </a:p>
        </p:txBody>
      </p:sp>
      <p:sp>
        <p:nvSpPr>
          <p:cNvPr id="13" name="Shape 11"/>
          <p:cNvSpPr/>
          <p:nvPr/>
        </p:nvSpPr>
        <p:spPr>
          <a:xfrm>
            <a:off x="10745986" y="2666405"/>
            <a:ext cx="3090624" cy="2047994"/>
          </a:xfrm>
          <a:prstGeom prst="roundRect">
            <a:avLst>
              <a:gd name="adj" fmla="val 4652"/>
            </a:avLst>
          </a:prstGeom>
          <a:solidFill>
            <a:srgbClr val="3D3D42"/>
          </a:solidFill>
          <a:ln w="7620">
            <a:solidFill>
              <a:srgbClr val="56565B"/>
            </a:solidFill>
            <a:prstDash val="solid"/>
          </a:ln>
        </p:spPr>
        <p:txBody>
          <a:bodyPr/>
          <a:lstStyle/>
          <a:p>
            <a:endParaRPr lang="en-US"/>
          </a:p>
        </p:txBody>
      </p:sp>
      <p:sp>
        <p:nvSpPr>
          <p:cNvPr id="14" name="Text 12"/>
          <p:cNvSpPr/>
          <p:nvPr/>
        </p:nvSpPr>
        <p:spPr>
          <a:xfrm>
            <a:off x="10980420" y="2900839"/>
            <a:ext cx="2621756"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load_image.py</a:t>
            </a:r>
            <a:endParaRPr lang="en-US" sz="2200" dirty="0"/>
          </a:p>
        </p:txBody>
      </p:sp>
      <p:sp>
        <p:nvSpPr>
          <p:cNvPr id="15" name="Text 13"/>
          <p:cNvSpPr/>
          <p:nvPr/>
        </p:nvSpPr>
        <p:spPr>
          <a:xfrm>
            <a:off x="10980420" y="3391257"/>
            <a:ext cx="2621756"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Simple demo for loading and preprocessing test images.</a:t>
            </a:r>
            <a:endParaRPr lang="en-US" sz="1750" dirty="0"/>
          </a:p>
        </p:txBody>
      </p:sp>
      <p:sp>
        <p:nvSpPr>
          <p:cNvPr id="16" name="Shape 14"/>
          <p:cNvSpPr/>
          <p:nvPr/>
        </p:nvSpPr>
        <p:spPr>
          <a:xfrm>
            <a:off x="793790" y="4941213"/>
            <a:ext cx="3090505" cy="2402324"/>
          </a:xfrm>
          <a:prstGeom prst="roundRect">
            <a:avLst>
              <a:gd name="adj" fmla="val 3966"/>
            </a:avLst>
          </a:prstGeom>
          <a:solidFill>
            <a:srgbClr val="3D3D42"/>
          </a:solidFill>
          <a:ln w="7620">
            <a:solidFill>
              <a:srgbClr val="56565B"/>
            </a:solidFill>
            <a:prstDash val="solid"/>
          </a:ln>
        </p:spPr>
        <p:txBody>
          <a:bodyPr/>
          <a:lstStyle/>
          <a:p>
            <a:endParaRPr lang="en-US"/>
          </a:p>
        </p:txBody>
      </p:sp>
      <p:sp>
        <p:nvSpPr>
          <p:cNvPr id="17" name="Text 15"/>
          <p:cNvSpPr/>
          <p:nvPr/>
        </p:nvSpPr>
        <p:spPr>
          <a:xfrm>
            <a:off x="1028224" y="5175647"/>
            <a:ext cx="2621637"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notebook.ipynb</a:t>
            </a:r>
            <a:endParaRPr lang="en-US" sz="2200" dirty="0"/>
          </a:p>
        </p:txBody>
      </p:sp>
      <p:sp>
        <p:nvSpPr>
          <p:cNvPr id="18" name="Text 16"/>
          <p:cNvSpPr/>
          <p:nvPr/>
        </p:nvSpPr>
        <p:spPr>
          <a:xfrm>
            <a:off x="1028224" y="5666065"/>
            <a:ext cx="2621637"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Exploratory analysis, visualizations, and step-by-step explanations.</a:t>
            </a:r>
            <a:endParaRPr lang="en-US" sz="1750" dirty="0"/>
          </a:p>
        </p:txBody>
      </p:sp>
      <p:sp>
        <p:nvSpPr>
          <p:cNvPr id="19" name="Shape 17"/>
          <p:cNvSpPr/>
          <p:nvPr/>
        </p:nvSpPr>
        <p:spPr>
          <a:xfrm>
            <a:off x="4111109" y="4941213"/>
            <a:ext cx="3090624" cy="2402324"/>
          </a:xfrm>
          <a:prstGeom prst="roundRect">
            <a:avLst>
              <a:gd name="adj" fmla="val 3966"/>
            </a:avLst>
          </a:prstGeom>
          <a:solidFill>
            <a:srgbClr val="3D3D42"/>
          </a:solidFill>
          <a:ln w="7620">
            <a:solidFill>
              <a:srgbClr val="56565B"/>
            </a:solidFill>
            <a:prstDash val="solid"/>
          </a:ln>
        </p:spPr>
        <p:txBody>
          <a:bodyPr/>
          <a:lstStyle/>
          <a:p>
            <a:endParaRPr lang="en-US"/>
          </a:p>
        </p:txBody>
      </p:sp>
      <p:sp>
        <p:nvSpPr>
          <p:cNvPr id="20" name="Text 18"/>
          <p:cNvSpPr/>
          <p:nvPr/>
        </p:nvSpPr>
        <p:spPr>
          <a:xfrm>
            <a:off x="4345543" y="5175647"/>
            <a:ext cx="2621756" cy="708660"/>
          </a:xfrm>
          <a:prstGeom prst="rect">
            <a:avLst/>
          </a:prstGeom>
          <a:noFill/>
          <a:ln/>
        </p:spPr>
        <p:txBody>
          <a:bodyPr wrap="squar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generate_report.py</a:t>
            </a:r>
            <a:endParaRPr lang="en-US" sz="2200" dirty="0"/>
          </a:p>
        </p:txBody>
      </p:sp>
      <p:sp>
        <p:nvSpPr>
          <p:cNvPr id="21" name="Text 19"/>
          <p:cNvSpPr/>
          <p:nvPr/>
        </p:nvSpPr>
        <p:spPr>
          <a:xfrm>
            <a:off x="4345543" y="6020395"/>
            <a:ext cx="2621756"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Creates PDF summaries of detection sessions and results.</a:t>
            </a:r>
            <a:endParaRPr lang="en-US" sz="1750" dirty="0"/>
          </a:p>
        </p:txBody>
      </p:sp>
      <p:sp>
        <p:nvSpPr>
          <p:cNvPr id="22" name="Shape 20"/>
          <p:cNvSpPr/>
          <p:nvPr/>
        </p:nvSpPr>
        <p:spPr>
          <a:xfrm>
            <a:off x="7428548" y="4941213"/>
            <a:ext cx="3090624" cy="2402324"/>
          </a:xfrm>
          <a:prstGeom prst="roundRect">
            <a:avLst>
              <a:gd name="adj" fmla="val 3966"/>
            </a:avLst>
          </a:prstGeom>
          <a:solidFill>
            <a:srgbClr val="3D3D42"/>
          </a:solidFill>
          <a:ln w="7620">
            <a:solidFill>
              <a:srgbClr val="56565B"/>
            </a:solidFill>
            <a:prstDash val="solid"/>
          </a:ln>
        </p:spPr>
        <p:txBody>
          <a:bodyPr/>
          <a:lstStyle/>
          <a:p>
            <a:endParaRPr lang="en-US"/>
          </a:p>
        </p:txBody>
      </p:sp>
      <p:sp>
        <p:nvSpPr>
          <p:cNvPr id="23" name="Text 21"/>
          <p:cNvSpPr/>
          <p:nvPr/>
        </p:nvSpPr>
        <p:spPr>
          <a:xfrm>
            <a:off x="7662982" y="5175647"/>
            <a:ext cx="2621756"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requirements.txt</a:t>
            </a:r>
            <a:endParaRPr lang="en-US" sz="2200" dirty="0"/>
          </a:p>
        </p:txBody>
      </p:sp>
      <p:sp>
        <p:nvSpPr>
          <p:cNvPr id="24" name="Text 22"/>
          <p:cNvSpPr/>
          <p:nvPr/>
        </p:nvSpPr>
        <p:spPr>
          <a:xfrm>
            <a:off x="7662982" y="5666065"/>
            <a:ext cx="2621756"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Project dependencies and exact package versions for reproducibility.</a:t>
            </a:r>
            <a:endParaRPr lang="en-US" sz="1750" dirty="0"/>
          </a:p>
        </p:txBody>
      </p:sp>
      <p:sp>
        <p:nvSpPr>
          <p:cNvPr id="25" name="Shape 23"/>
          <p:cNvSpPr/>
          <p:nvPr/>
        </p:nvSpPr>
        <p:spPr>
          <a:xfrm>
            <a:off x="10745986" y="4941213"/>
            <a:ext cx="3090624" cy="2402324"/>
          </a:xfrm>
          <a:prstGeom prst="roundRect">
            <a:avLst>
              <a:gd name="adj" fmla="val 3966"/>
            </a:avLst>
          </a:prstGeom>
          <a:solidFill>
            <a:srgbClr val="3D3D42"/>
          </a:solidFill>
          <a:ln w="7620">
            <a:solidFill>
              <a:srgbClr val="56565B"/>
            </a:solidFill>
            <a:prstDash val="solid"/>
          </a:ln>
        </p:spPr>
        <p:txBody>
          <a:bodyPr/>
          <a:lstStyle/>
          <a:p>
            <a:endParaRPr lang="en-US"/>
          </a:p>
        </p:txBody>
      </p:sp>
      <p:sp>
        <p:nvSpPr>
          <p:cNvPr id="26" name="Text 24"/>
          <p:cNvSpPr/>
          <p:nvPr/>
        </p:nvSpPr>
        <p:spPr>
          <a:xfrm>
            <a:off x="10980420" y="5175647"/>
            <a:ext cx="2621756"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README.md</a:t>
            </a:r>
            <a:endParaRPr lang="en-US" sz="2200" dirty="0"/>
          </a:p>
        </p:txBody>
      </p:sp>
      <p:sp>
        <p:nvSpPr>
          <p:cNvPr id="27" name="Text 25"/>
          <p:cNvSpPr/>
          <p:nvPr/>
        </p:nvSpPr>
        <p:spPr>
          <a:xfrm>
            <a:off x="10980420" y="5666065"/>
            <a:ext cx="2621756"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Setup, usage, architecture notes, and contribution guidelines.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6642" y="607576"/>
            <a:ext cx="5404842" cy="675680"/>
          </a:xfrm>
          <a:prstGeom prst="rect">
            <a:avLst/>
          </a:prstGeom>
          <a:noFill/>
          <a:ln/>
        </p:spPr>
        <p:txBody>
          <a:bodyPr wrap="none" lIns="0" tIns="0" rIns="0" bIns="0" rtlCol="0" anchor="t"/>
          <a:lstStyle/>
          <a:p>
            <a:pPr marL="0" indent="0" algn="l">
              <a:lnSpc>
                <a:spcPts val="5300"/>
              </a:lnSpc>
              <a:buNone/>
            </a:pPr>
            <a:r>
              <a:rPr lang="en-US" sz="4250" dirty="0">
                <a:solidFill>
                  <a:srgbClr val="F2F2F3"/>
                </a:solidFill>
                <a:latin typeface="Poppins Light" pitchFamily="34" charset="0"/>
                <a:ea typeface="Poppins Light" pitchFamily="34" charset="-122"/>
                <a:cs typeface="Poppins Light" pitchFamily="34" charset="-120"/>
              </a:rPr>
              <a:t>Live Demo &amp; Results</a:t>
            </a:r>
            <a:endParaRPr lang="en-US" sz="4250" dirty="0"/>
          </a:p>
        </p:txBody>
      </p:sp>
      <p:sp>
        <p:nvSpPr>
          <p:cNvPr id="3" name="Text 1"/>
          <p:cNvSpPr/>
          <p:nvPr/>
        </p:nvSpPr>
        <p:spPr>
          <a:xfrm>
            <a:off x="756642" y="1777722"/>
            <a:ext cx="7659291" cy="675561"/>
          </a:xfrm>
          <a:prstGeom prst="rect">
            <a:avLst/>
          </a:prstGeom>
          <a:noFill/>
          <a:ln/>
        </p:spPr>
        <p:txBody>
          <a:bodyPr wrap="squar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We validated detection accuracy and annotation quality across common code types. The table summarizes typical outputs produced by the scanner.</a:t>
            </a:r>
            <a:endParaRPr lang="en-US" sz="1700" dirty="0"/>
          </a:p>
        </p:txBody>
      </p:sp>
      <p:sp>
        <p:nvSpPr>
          <p:cNvPr id="4" name="Shape 2"/>
          <p:cNvSpPr/>
          <p:nvPr/>
        </p:nvSpPr>
        <p:spPr>
          <a:xfrm>
            <a:off x="756642" y="2685098"/>
            <a:ext cx="7659291" cy="4705112"/>
          </a:xfrm>
          <a:prstGeom prst="roundRect">
            <a:avLst>
              <a:gd name="adj" fmla="val 1930"/>
            </a:avLst>
          </a:prstGeom>
          <a:noFill/>
          <a:ln w="7620">
            <a:solidFill>
              <a:srgbClr val="FFFFFF">
                <a:alpha val="24000"/>
              </a:srgbClr>
            </a:solidFill>
            <a:prstDash val="solid"/>
          </a:ln>
        </p:spPr>
        <p:txBody>
          <a:bodyPr/>
          <a:lstStyle/>
          <a:p>
            <a:endParaRPr lang="en-US"/>
          </a:p>
        </p:txBody>
      </p:sp>
      <p:sp>
        <p:nvSpPr>
          <p:cNvPr id="5" name="Shape 3"/>
          <p:cNvSpPr/>
          <p:nvPr/>
        </p:nvSpPr>
        <p:spPr>
          <a:xfrm>
            <a:off x="764262" y="2692718"/>
            <a:ext cx="7644051" cy="600194"/>
          </a:xfrm>
          <a:prstGeom prst="rect">
            <a:avLst/>
          </a:prstGeom>
          <a:solidFill>
            <a:srgbClr val="FFFFFF">
              <a:alpha val="4000"/>
            </a:srgbClr>
          </a:solidFill>
          <a:ln/>
        </p:spPr>
        <p:txBody>
          <a:bodyPr/>
          <a:lstStyle/>
          <a:p>
            <a:endParaRPr lang="en-US"/>
          </a:p>
        </p:txBody>
      </p:sp>
      <p:sp>
        <p:nvSpPr>
          <p:cNvPr id="6" name="Text 4"/>
          <p:cNvSpPr/>
          <p:nvPr/>
        </p:nvSpPr>
        <p:spPr>
          <a:xfrm>
            <a:off x="980599" y="2823924"/>
            <a:ext cx="2621518" cy="337780"/>
          </a:xfrm>
          <a:prstGeom prst="rect">
            <a:avLst/>
          </a:prstGeom>
          <a:noFill/>
          <a:ln/>
        </p:spPr>
        <p:txBody>
          <a:bodyPr wrap="non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Code Type</a:t>
            </a:r>
            <a:endParaRPr lang="en-US" sz="1700" dirty="0"/>
          </a:p>
        </p:txBody>
      </p:sp>
      <p:sp>
        <p:nvSpPr>
          <p:cNvPr id="7" name="Text 5"/>
          <p:cNvSpPr/>
          <p:nvPr/>
        </p:nvSpPr>
        <p:spPr>
          <a:xfrm>
            <a:off x="4041934" y="2823924"/>
            <a:ext cx="1853327" cy="337780"/>
          </a:xfrm>
          <a:prstGeom prst="rect">
            <a:avLst/>
          </a:prstGeom>
          <a:noFill/>
          <a:ln/>
        </p:spPr>
        <p:txBody>
          <a:bodyPr wrap="non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Detection</a:t>
            </a:r>
            <a:endParaRPr lang="en-US" sz="1700" dirty="0"/>
          </a:p>
        </p:txBody>
      </p:sp>
      <p:sp>
        <p:nvSpPr>
          <p:cNvPr id="8" name="Text 6"/>
          <p:cNvSpPr/>
          <p:nvPr/>
        </p:nvSpPr>
        <p:spPr>
          <a:xfrm>
            <a:off x="6335078" y="2823924"/>
            <a:ext cx="1857137" cy="337780"/>
          </a:xfrm>
          <a:prstGeom prst="rect">
            <a:avLst/>
          </a:prstGeom>
          <a:noFill/>
          <a:ln/>
        </p:spPr>
        <p:txBody>
          <a:bodyPr wrap="non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Output</a:t>
            </a:r>
            <a:endParaRPr lang="en-US" sz="1700" dirty="0"/>
          </a:p>
        </p:txBody>
      </p:sp>
      <p:sp>
        <p:nvSpPr>
          <p:cNvPr id="9" name="Shape 7"/>
          <p:cNvSpPr/>
          <p:nvPr/>
        </p:nvSpPr>
        <p:spPr>
          <a:xfrm>
            <a:off x="764262" y="3292912"/>
            <a:ext cx="7644051" cy="937974"/>
          </a:xfrm>
          <a:prstGeom prst="rect">
            <a:avLst/>
          </a:prstGeom>
          <a:solidFill>
            <a:srgbClr val="000000">
              <a:alpha val="4000"/>
            </a:srgbClr>
          </a:solidFill>
          <a:ln/>
        </p:spPr>
        <p:txBody>
          <a:bodyPr/>
          <a:lstStyle/>
          <a:p>
            <a:endParaRPr lang="en-US"/>
          </a:p>
        </p:txBody>
      </p:sp>
      <p:sp>
        <p:nvSpPr>
          <p:cNvPr id="10" name="Text 8"/>
          <p:cNvSpPr/>
          <p:nvPr/>
        </p:nvSpPr>
        <p:spPr>
          <a:xfrm>
            <a:off x="980599" y="3424118"/>
            <a:ext cx="2621518" cy="337780"/>
          </a:xfrm>
          <a:prstGeom prst="rect">
            <a:avLst/>
          </a:prstGeom>
          <a:noFill/>
          <a:ln/>
        </p:spPr>
        <p:txBody>
          <a:bodyPr wrap="non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QR Code</a:t>
            </a:r>
            <a:endParaRPr lang="en-US" sz="1700" dirty="0"/>
          </a:p>
        </p:txBody>
      </p:sp>
      <p:sp>
        <p:nvSpPr>
          <p:cNvPr id="11" name="Text 9"/>
          <p:cNvSpPr/>
          <p:nvPr/>
        </p:nvSpPr>
        <p:spPr>
          <a:xfrm>
            <a:off x="4041934" y="3424118"/>
            <a:ext cx="1853327" cy="337780"/>
          </a:xfrm>
          <a:prstGeom prst="rect">
            <a:avLst/>
          </a:prstGeom>
          <a:noFill/>
          <a:ln/>
        </p:spPr>
        <p:txBody>
          <a:bodyPr wrap="non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Detected</a:t>
            </a:r>
            <a:endParaRPr lang="en-US" sz="1700" dirty="0"/>
          </a:p>
        </p:txBody>
      </p:sp>
      <p:sp>
        <p:nvSpPr>
          <p:cNvPr id="12" name="Text 10"/>
          <p:cNvSpPr/>
          <p:nvPr/>
        </p:nvSpPr>
        <p:spPr>
          <a:xfrm>
            <a:off x="6335078" y="3424118"/>
            <a:ext cx="1857137" cy="675561"/>
          </a:xfrm>
          <a:prstGeom prst="rect">
            <a:avLst/>
          </a:prstGeom>
          <a:noFill/>
          <a:ln/>
        </p:spPr>
        <p:txBody>
          <a:bodyPr wrap="squar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Decoded text/URL, polygon + box</a:t>
            </a:r>
            <a:endParaRPr lang="en-US" sz="1700" dirty="0"/>
          </a:p>
        </p:txBody>
      </p:sp>
      <p:sp>
        <p:nvSpPr>
          <p:cNvPr id="13" name="Shape 11"/>
          <p:cNvSpPr/>
          <p:nvPr/>
        </p:nvSpPr>
        <p:spPr>
          <a:xfrm>
            <a:off x="764262" y="4230886"/>
            <a:ext cx="7644051" cy="937974"/>
          </a:xfrm>
          <a:prstGeom prst="rect">
            <a:avLst/>
          </a:prstGeom>
          <a:solidFill>
            <a:srgbClr val="FFFFFF">
              <a:alpha val="4000"/>
            </a:srgbClr>
          </a:solidFill>
          <a:ln/>
        </p:spPr>
        <p:txBody>
          <a:bodyPr/>
          <a:lstStyle/>
          <a:p>
            <a:endParaRPr lang="en-US"/>
          </a:p>
        </p:txBody>
      </p:sp>
      <p:sp>
        <p:nvSpPr>
          <p:cNvPr id="14" name="Text 12"/>
          <p:cNvSpPr/>
          <p:nvPr/>
        </p:nvSpPr>
        <p:spPr>
          <a:xfrm>
            <a:off x="980599" y="4362093"/>
            <a:ext cx="2621518" cy="337780"/>
          </a:xfrm>
          <a:prstGeom prst="rect">
            <a:avLst/>
          </a:prstGeom>
          <a:noFill/>
          <a:ln/>
        </p:spPr>
        <p:txBody>
          <a:bodyPr wrap="non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EAN-13 Barcode</a:t>
            </a:r>
            <a:endParaRPr lang="en-US" sz="1700" dirty="0"/>
          </a:p>
        </p:txBody>
      </p:sp>
      <p:sp>
        <p:nvSpPr>
          <p:cNvPr id="15" name="Text 13"/>
          <p:cNvSpPr/>
          <p:nvPr/>
        </p:nvSpPr>
        <p:spPr>
          <a:xfrm>
            <a:off x="4041934" y="4362093"/>
            <a:ext cx="1853327" cy="337780"/>
          </a:xfrm>
          <a:prstGeom prst="rect">
            <a:avLst/>
          </a:prstGeom>
          <a:noFill/>
          <a:ln/>
        </p:spPr>
        <p:txBody>
          <a:bodyPr wrap="non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Detected</a:t>
            </a:r>
            <a:endParaRPr lang="en-US" sz="1700" dirty="0"/>
          </a:p>
        </p:txBody>
      </p:sp>
      <p:sp>
        <p:nvSpPr>
          <p:cNvPr id="16" name="Text 14"/>
          <p:cNvSpPr/>
          <p:nvPr/>
        </p:nvSpPr>
        <p:spPr>
          <a:xfrm>
            <a:off x="6335078" y="4362093"/>
            <a:ext cx="1857137" cy="675561"/>
          </a:xfrm>
          <a:prstGeom prst="rect">
            <a:avLst/>
          </a:prstGeom>
          <a:noFill/>
          <a:ln/>
        </p:spPr>
        <p:txBody>
          <a:bodyPr wrap="squar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Decoded digits, polygon + box</a:t>
            </a:r>
            <a:endParaRPr lang="en-US" sz="1700" dirty="0"/>
          </a:p>
        </p:txBody>
      </p:sp>
      <p:sp>
        <p:nvSpPr>
          <p:cNvPr id="17" name="Shape 15"/>
          <p:cNvSpPr/>
          <p:nvPr/>
        </p:nvSpPr>
        <p:spPr>
          <a:xfrm>
            <a:off x="764262" y="5168860"/>
            <a:ext cx="7644051" cy="937974"/>
          </a:xfrm>
          <a:prstGeom prst="rect">
            <a:avLst/>
          </a:prstGeom>
          <a:solidFill>
            <a:srgbClr val="000000">
              <a:alpha val="4000"/>
            </a:srgbClr>
          </a:solidFill>
          <a:ln/>
        </p:spPr>
        <p:txBody>
          <a:bodyPr/>
          <a:lstStyle/>
          <a:p>
            <a:endParaRPr lang="en-US"/>
          </a:p>
        </p:txBody>
      </p:sp>
      <p:sp>
        <p:nvSpPr>
          <p:cNvPr id="18" name="Text 16"/>
          <p:cNvSpPr/>
          <p:nvPr/>
        </p:nvSpPr>
        <p:spPr>
          <a:xfrm>
            <a:off x="980599" y="5300067"/>
            <a:ext cx="2621518" cy="337780"/>
          </a:xfrm>
          <a:prstGeom prst="rect">
            <a:avLst/>
          </a:prstGeom>
          <a:noFill/>
          <a:ln/>
        </p:spPr>
        <p:txBody>
          <a:bodyPr wrap="non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CODE-128 Barcode</a:t>
            </a:r>
            <a:endParaRPr lang="en-US" sz="1700" dirty="0"/>
          </a:p>
        </p:txBody>
      </p:sp>
      <p:sp>
        <p:nvSpPr>
          <p:cNvPr id="19" name="Text 17"/>
          <p:cNvSpPr/>
          <p:nvPr/>
        </p:nvSpPr>
        <p:spPr>
          <a:xfrm>
            <a:off x="4041934" y="5300067"/>
            <a:ext cx="1853327" cy="337780"/>
          </a:xfrm>
          <a:prstGeom prst="rect">
            <a:avLst/>
          </a:prstGeom>
          <a:noFill/>
          <a:ln/>
        </p:spPr>
        <p:txBody>
          <a:bodyPr wrap="non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Detected</a:t>
            </a:r>
            <a:endParaRPr lang="en-US" sz="1700" dirty="0"/>
          </a:p>
        </p:txBody>
      </p:sp>
      <p:sp>
        <p:nvSpPr>
          <p:cNvPr id="20" name="Text 18"/>
          <p:cNvSpPr/>
          <p:nvPr/>
        </p:nvSpPr>
        <p:spPr>
          <a:xfrm>
            <a:off x="6335078" y="5300067"/>
            <a:ext cx="1857137" cy="675561"/>
          </a:xfrm>
          <a:prstGeom prst="rect">
            <a:avLst/>
          </a:prstGeom>
          <a:noFill/>
          <a:ln/>
        </p:spPr>
        <p:txBody>
          <a:bodyPr wrap="squar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Decoded string, polygon + box</a:t>
            </a:r>
            <a:endParaRPr lang="en-US" sz="1700" dirty="0"/>
          </a:p>
        </p:txBody>
      </p:sp>
      <p:sp>
        <p:nvSpPr>
          <p:cNvPr id="21" name="Shape 19"/>
          <p:cNvSpPr/>
          <p:nvPr/>
        </p:nvSpPr>
        <p:spPr>
          <a:xfrm>
            <a:off x="764262" y="6106835"/>
            <a:ext cx="7644051" cy="1275755"/>
          </a:xfrm>
          <a:prstGeom prst="rect">
            <a:avLst/>
          </a:prstGeom>
          <a:solidFill>
            <a:srgbClr val="FFFFFF">
              <a:alpha val="4000"/>
            </a:srgbClr>
          </a:solidFill>
          <a:ln/>
        </p:spPr>
        <p:txBody>
          <a:bodyPr/>
          <a:lstStyle/>
          <a:p>
            <a:endParaRPr lang="en-US"/>
          </a:p>
        </p:txBody>
      </p:sp>
      <p:sp>
        <p:nvSpPr>
          <p:cNvPr id="22" name="Text 20"/>
          <p:cNvSpPr/>
          <p:nvPr/>
        </p:nvSpPr>
        <p:spPr>
          <a:xfrm>
            <a:off x="980599" y="6238042"/>
            <a:ext cx="2621518" cy="337780"/>
          </a:xfrm>
          <a:prstGeom prst="rect">
            <a:avLst/>
          </a:prstGeom>
          <a:noFill/>
          <a:ln/>
        </p:spPr>
        <p:txBody>
          <a:bodyPr wrap="non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Multiple Codes</a:t>
            </a:r>
            <a:endParaRPr lang="en-US" sz="1700" dirty="0"/>
          </a:p>
        </p:txBody>
      </p:sp>
      <p:sp>
        <p:nvSpPr>
          <p:cNvPr id="23" name="Text 21"/>
          <p:cNvSpPr/>
          <p:nvPr/>
        </p:nvSpPr>
        <p:spPr>
          <a:xfrm>
            <a:off x="4041934" y="6238042"/>
            <a:ext cx="1853327" cy="337780"/>
          </a:xfrm>
          <a:prstGeom prst="rect">
            <a:avLst/>
          </a:prstGeom>
          <a:noFill/>
          <a:ln/>
        </p:spPr>
        <p:txBody>
          <a:bodyPr wrap="non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Detected</a:t>
            </a:r>
            <a:endParaRPr lang="en-US" sz="1700" dirty="0"/>
          </a:p>
        </p:txBody>
      </p:sp>
      <p:sp>
        <p:nvSpPr>
          <p:cNvPr id="24" name="Text 22"/>
          <p:cNvSpPr/>
          <p:nvPr/>
        </p:nvSpPr>
        <p:spPr>
          <a:xfrm>
            <a:off x="6335078" y="6238042"/>
            <a:ext cx="1857137" cy="1013341"/>
          </a:xfrm>
          <a:prstGeom prst="rect">
            <a:avLst/>
          </a:prstGeom>
          <a:noFill/>
          <a:ln/>
        </p:spPr>
        <p:txBody>
          <a:bodyPr wrap="square" lIns="0" tIns="0" rIns="0" bIns="0" rtlCol="0" anchor="t"/>
          <a:lstStyle/>
          <a:p>
            <a:pPr marL="0" indent="0" algn="l">
              <a:lnSpc>
                <a:spcPts val="2650"/>
              </a:lnSpc>
              <a:buNone/>
            </a:pPr>
            <a:r>
              <a:rPr lang="en-US" sz="1700" dirty="0">
                <a:solidFill>
                  <a:srgbClr val="E5E0DF"/>
                </a:solidFill>
                <a:latin typeface="Roboto Light" pitchFamily="34" charset="0"/>
                <a:ea typeface="Roboto Light" pitchFamily="34" charset="-122"/>
                <a:cs typeface="Roboto Light" pitchFamily="34" charset="-120"/>
              </a:rPr>
              <a:t>Each code annotated in unique color</a:t>
            </a:r>
            <a:endParaRPr lang="en-US" sz="1700" dirty="0"/>
          </a:p>
        </p:txBody>
      </p:sp>
      <p:pic>
        <p:nvPicPr>
          <p:cNvPr id="25" name="Image 0" descr="preencoded.png"/>
          <p:cNvPicPr>
            <a:picLocks noChangeAspect="1"/>
          </p:cNvPicPr>
          <p:nvPr/>
        </p:nvPicPr>
        <p:blipFill>
          <a:blip r:embed="rId3"/>
          <a:stretch>
            <a:fillRect/>
          </a:stretch>
        </p:blipFill>
        <p:spPr>
          <a:xfrm>
            <a:off x="8951000" y="1909048"/>
            <a:ext cx="4930378" cy="2630329"/>
          </a:xfrm>
          <a:prstGeom prst="rect">
            <a:avLst/>
          </a:prstGeom>
        </p:spPr>
      </p:pic>
      <p:sp>
        <p:nvSpPr>
          <p:cNvPr id="26" name="Text 23"/>
          <p:cNvSpPr/>
          <p:nvPr/>
        </p:nvSpPr>
        <p:spPr>
          <a:xfrm>
            <a:off x="8951000" y="4771192"/>
            <a:ext cx="4930378" cy="337780"/>
          </a:xfrm>
          <a:prstGeom prst="rect">
            <a:avLst/>
          </a:prstGeom>
          <a:noFill/>
          <a:ln/>
        </p:spPr>
        <p:txBody>
          <a:bodyPr wrap="none" lIns="0" tIns="0" rIns="0" bIns="0" rtlCol="0" anchor="t"/>
          <a:lstStyle/>
          <a:p>
            <a:pPr marL="0" indent="0" algn="l">
              <a:lnSpc>
                <a:spcPts val="2650"/>
              </a:lnSpc>
              <a:buNone/>
            </a:pPr>
            <a:r>
              <a:rPr lang="en-US" sz="1700" b="1" dirty="0">
                <a:solidFill>
                  <a:srgbClr val="E5E0DF"/>
                </a:solidFill>
                <a:latin typeface="Roboto Light" pitchFamily="34" charset="0"/>
                <a:ea typeface="Roboto Light" pitchFamily="34" charset="-122"/>
                <a:cs typeface="Roboto Light" pitchFamily="34" charset="-120"/>
              </a:rPr>
              <a:t>Key achievements</a:t>
            </a:r>
            <a:endParaRPr lang="en-US" sz="1700" dirty="0"/>
          </a:p>
        </p:txBody>
      </p:sp>
      <p:sp>
        <p:nvSpPr>
          <p:cNvPr id="27" name="Text 24"/>
          <p:cNvSpPr/>
          <p:nvPr/>
        </p:nvSpPr>
        <p:spPr>
          <a:xfrm>
            <a:off x="8951000" y="5294352"/>
            <a:ext cx="4930378" cy="2170747"/>
          </a:xfrm>
          <a:prstGeom prst="rect">
            <a:avLst/>
          </a:prstGeom>
          <a:noFill/>
          <a:ln/>
        </p:spPr>
        <p:txBody>
          <a:bodyPr wrap="square" lIns="0" tIns="0" rIns="0" bIns="0" rtlCol="0" anchor="t"/>
          <a:lstStyle/>
          <a:p>
            <a:pPr marL="342900" indent="-342900" algn="l">
              <a:lnSpc>
                <a:spcPts val="2650"/>
              </a:lnSpc>
              <a:buSzPct val="100000"/>
              <a:buChar char="•"/>
            </a:pPr>
            <a:r>
              <a:rPr lang="en-US" sz="1700" dirty="0">
                <a:solidFill>
                  <a:srgbClr val="E5E0DF"/>
                </a:solidFill>
                <a:latin typeface="Roboto Light" pitchFamily="34" charset="0"/>
                <a:ea typeface="Roboto Light" pitchFamily="34" charset="-122"/>
                <a:cs typeface="Roboto Light" pitchFamily="34" charset="-120"/>
              </a:rPr>
              <a:t>Handles multiple code types simultaneously with unique color labels</a:t>
            </a:r>
            <a:endParaRPr lang="en-US" sz="1700" dirty="0"/>
          </a:p>
          <a:p>
            <a:pPr marL="342900" indent="-342900" algn="l">
              <a:lnSpc>
                <a:spcPts val="2650"/>
              </a:lnSpc>
              <a:buSzPct val="100000"/>
              <a:buChar char="•"/>
            </a:pPr>
            <a:r>
              <a:rPr lang="en-US" sz="1700" dirty="0">
                <a:solidFill>
                  <a:srgbClr val="E5E0DF"/>
                </a:solidFill>
                <a:latin typeface="Roboto Light" pitchFamily="34" charset="0"/>
                <a:ea typeface="Roboto Light" pitchFamily="34" charset="-122"/>
                <a:cs typeface="Roboto Light" pitchFamily="34" charset="-120"/>
              </a:rPr>
              <a:t>Precise polygon localization for accurate cropping &amp; readouts</a:t>
            </a:r>
            <a:endParaRPr lang="en-US" sz="1700" dirty="0"/>
          </a:p>
          <a:p>
            <a:pPr marL="342900" indent="-342900" algn="l">
              <a:lnSpc>
                <a:spcPts val="2650"/>
              </a:lnSpc>
              <a:buSzPct val="100000"/>
              <a:buChar char="•"/>
            </a:pPr>
            <a:r>
              <a:rPr lang="en-US" sz="1700" dirty="0">
                <a:solidFill>
                  <a:srgbClr val="E5E0DF"/>
                </a:solidFill>
                <a:latin typeface="Roboto Light" pitchFamily="34" charset="0"/>
                <a:ea typeface="Roboto Light" pitchFamily="34" charset="-122"/>
                <a:cs typeface="Roboto Light" pitchFamily="34" charset="-120"/>
              </a:rPr>
              <a:t>Real-time desktop GUI with save/export functionality</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2314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2F2F3"/>
                </a:solidFill>
                <a:latin typeface="Poppins Light" pitchFamily="34" charset="0"/>
                <a:ea typeface="Poppins Light" pitchFamily="34" charset="-122"/>
                <a:cs typeface="Poppins Light" pitchFamily="34" charset="-120"/>
              </a:rPr>
              <a:t>Key Takeaways</a:t>
            </a:r>
            <a:endParaRPr lang="en-US" sz="4450" dirty="0"/>
          </a:p>
        </p:txBody>
      </p:sp>
      <p:sp>
        <p:nvSpPr>
          <p:cNvPr id="3" name="Shape 1"/>
          <p:cNvSpPr/>
          <p:nvPr/>
        </p:nvSpPr>
        <p:spPr>
          <a:xfrm>
            <a:off x="793790" y="2840593"/>
            <a:ext cx="4196358" cy="30480"/>
          </a:xfrm>
          <a:prstGeom prst="rect">
            <a:avLst/>
          </a:prstGeom>
          <a:solidFill>
            <a:srgbClr val="F2F2F3"/>
          </a:solidFill>
          <a:ln/>
        </p:spPr>
        <p:txBody>
          <a:bodyPr/>
          <a:lstStyle/>
          <a:p>
            <a:endParaRPr lang="en-US"/>
          </a:p>
        </p:txBody>
      </p:sp>
      <p:sp>
        <p:nvSpPr>
          <p:cNvPr id="4" name="Text 2"/>
          <p:cNvSpPr/>
          <p:nvPr/>
        </p:nvSpPr>
        <p:spPr>
          <a:xfrm>
            <a:off x="793790" y="301490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Images as Arrays</a:t>
            </a:r>
            <a:endParaRPr lang="en-US" sz="2200" dirty="0"/>
          </a:p>
        </p:txBody>
      </p:sp>
      <p:sp>
        <p:nvSpPr>
          <p:cNvPr id="5" name="Text 3"/>
          <p:cNvSpPr/>
          <p:nvPr/>
        </p:nvSpPr>
        <p:spPr>
          <a:xfrm>
            <a:off x="793790" y="3505319"/>
            <a:ext cx="4196358"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Images are NumPy arrays with shape (height, width, channels). Efficient indexing enables fast preprocessing.</a:t>
            </a:r>
            <a:endParaRPr lang="en-US" sz="1750" dirty="0"/>
          </a:p>
        </p:txBody>
      </p:sp>
      <p:sp>
        <p:nvSpPr>
          <p:cNvPr id="6" name="Shape 4"/>
          <p:cNvSpPr/>
          <p:nvPr/>
        </p:nvSpPr>
        <p:spPr>
          <a:xfrm>
            <a:off x="5216962" y="2840593"/>
            <a:ext cx="4196358" cy="30480"/>
          </a:xfrm>
          <a:prstGeom prst="rect">
            <a:avLst/>
          </a:prstGeom>
          <a:solidFill>
            <a:srgbClr val="F2F2F3"/>
          </a:solidFill>
          <a:ln/>
        </p:spPr>
        <p:txBody>
          <a:bodyPr/>
          <a:lstStyle/>
          <a:p>
            <a:endParaRPr lang="en-US"/>
          </a:p>
        </p:txBody>
      </p:sp>
      <p:sp>
        <p:nvSpPr>
          <p:cNvPr id="7" name="Text 5"/>
          <p:cNvSpPr/>
          <p:nvPr/>
        </p:nvSpPr>
        <p:spPr>
          <a:xfrm>
            <a:off x="5216962" y="301490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Grayscale Formula</a:t>
            </a:r>
            <a:endParaRPr lang="en-US" sz="2200" dirty="0"/>
          </a:p>
        </p:txBody>
      </p:sp>
      <p:sp>
        <p:nvSpPr>
          <p:cNvPr id="8" name="Text 6"/>
          <p:cNvSpPr/>
          <p:nvPr/>
        </p:nvSpPr>
        <p:spPr>
          <a:xfrm>
            <a:off x="5216962" y="3505319"/>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Gray = 0.114B + 0.587G + 0.299R — used for luminance-preserving conversions.</a:t>
            </a:r>
            <a:endParaRPr lang="en-US" sz="1750" dirty="0"/>
          </a:p>
        </p:txBody>
      </p:sp>
      <p:sp>
        <p:nvSpPr>
          <p:cNvPr id="9" name="Shape 7"/>
          <p:cNvSpPr/>
          <p:nvPr/>
        </p:nvSpPr>
        <p:spPr>
          <a:xfrm>
            <a:off x="9640133" y="2840593"/>
            <a:ext cx="4196358" cy="30480"/>
          </a:xfrm>
          <a:prstGeom prst="rect">
            <a:avLst/>
          </a:prstGeom>
          <a:solidFill>
            <a:srgbClr val="F2F2F3"/>
          </a:solidFill>
          <a:ln/>
        </p:spPr>
        <p:txBody>
          <a:bodyPr/>
          <a:lstStyle/>
          <a:p>
            <a:endParaRPr lang="en-US"/>
          </a:p>
        </p:txBody>
      </p:sp>
      <p:sp>
        <p:nvSpPr>
          <p:cNvPr id="10" name="Text 8"/>
          <p:cNvSpPr/>
          <p:nvPr/>
        </p:nvSpPr>
        <p:spPr>
          <a:xfrm>
            <a:off x="9640133" y="301490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Canny Pipeline</a:t>
            </a:r>
            <a:endParaRPr lang="en-US" sz="2200" dirty="0"/>
          </a:p>
        </p:txBody>
      </p:sp>
      <p:sp>
        <p:nvSpPr>
          <p:cNvPr id="11" name="Text 9"/>
          <p:cNvSpPr/>
          <p:nvPr/>
        </p:nvSpPr>
        <p:spPr>
          <a:xfrm>
            <a:off x="9640133" y="3505319"/>
            <a:ext cx="4196358"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Blur → gradient calculation → non-maximum suppression → hysteresis thresholding for robust edge maps.</a:t>
            </a:r>
            <a:endParaRPr lang="en-US" sz="1750" dirty="0"/>
          </a:p>
        </p:txBody>
      </p:sp>
      <p:sp>
        <p:nvSpPr>
          <p:cNvPr id="12" name="Shape 10"/>
          <p:cNvSpPr/>
          <p:nvPr/>
        </p:nvSpPr>
        <p:spPr>
          <a:xfrm>
            <a:off x="793790" y="5345906"/>
            <a:ext cx="6407944" cy="30480"/>
          </a:xfrm>
          <a:prstGeom prst="rect">
            <a:avLst/>
          </a:prstGeom>
          <a:solidFill>
            <a:srgbClr val="F2F2F3"/>
          </a:solidFill>
          <a:ln/>
        </p:spPr>
        <p:txBody>
          <a:bodyPr/>
          <a:lstStyle/>
          <a:p>
            <a:endParaRPr lang="en-US"/>
          </a:p>
        </p:txBody>
      </p:sp>
      <p:sp>
        <p:nvSpPr>
          <p:cNvPr id="13" name="Text 11"/>
          <p:cNvSpPr/>
          <p:nvPr/>
        </p:nvSpPr>
        <p:spPr>
          <a:xfrm>
            <a:off x="793790" y="55202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Decoding</a:t>
            </a:r>
            <a:endParaRPr lang="en-US" sz="2200" dirty="0"/>
          </a:p>
        </p:txBody>
      </p:sp>
      <p:sp>
        <p:nvSpPr>
          <p:cNvPr id="14" name="Text 12"/>
          <p:cNvSpPr/>
          <p:nvPr/>
        </p:nvSpPr>
        <p:spPr>
          <a:xfrm>
            <a:off x="793790" y="6010632"/>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pyzbar leverages ZBar and Reed–Solomon error correction; we integrate it rather than implementing correction manually.</a:t>
            </a:r>
            <a:endParaRPr lang="en-US" sz="1750" dirty="0"/>
          </a:p>
        </p:txBody>
      </p:sp>
      <p:sp>
        <p:nvSpPr>
          <p:cNvPr id="15" name="Shape 13"/>
          <p:cNvSpPr/>
          <p:nvPr/>
        </p:nvSpPr>
        <p:spPr>
          <a:xfrm>
            <a:off x="7428548" y="5345906"/>
            <a:ext cx="6407944" cy="30480"/>
          </a:xfrm>
          <a:prstGeom prst="rect">
            <a:avLst/>
          </a:prstGeom>
          <a:solidFill>
            <a:srgbClr val="F2F2F3"/>
          </a:solidFill>
          <a:ln/>
        </p:spPr>
        <p:txBody>
          <a:bodyPr/>
          <a:lstStyle/>
          <a:p>
            <a:endParaRPr lang="en-US"/>
          </a:p>
        </p:txBody>
      </p:sp>
      <p:sp>
        <p:nvSpPr>
          <p:cNvPr id="16" name="Text 14"/>
          <p:cNvSpPr/>
          <p:nvPr/>
        </p:nvSpPr>
        <p:spPr>
          <a:xfrm>
            <a:off x="7428548" y="55202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Poppins Light" pitchFamily="34" charset="0"/>
                <a:ea typeface="Poppins Light" pitchFamily="34" charset="-122"/>
                <a:cs typeface="Poppins Light" pitchFamily="34" charset="-120"/>
              </a:rPr>
              <a:t>Modular Design</a:t>
            </a:r>
            <a:endParaRPr lang="en-US" sz="2200" dirty="0"/>
          </a:p>
        </p:txBody>
      </p:sp>
      <p:sp>
        <p:nvSpPr>
          <p:cNvPr id="17" name="Text 15"/>
          <p:cNvSpPr/>
          <p:nvPr/>
        </p:nvSpPr>
        <p:spPr>
          <a:xfrm>
            <a:off x="7428548" y="6010632"/>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Light" pitchFamily="34" charset="0"/>
                <a:ea typeface="Roboto Light" pitchFamily="34" charset="-122"/>
                <a:cs typeface="Roboto Light" pitchFamily="34" charset="-120"/>
              </a:rPr>
              <a:t>Pipeline components are modular and extensible — easy to add webcam input, cloud processing, or additional code types.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708082" y="652701"/>
            <a:ext cx="7214116" cy="901660"/>
          </a:xfrm>
          <a:prstGeom prst="rect">
            <a:avLst/>
          </a:prstGeom>
          <a:noFill/>
          <a:ln/>
        </p:spPr>
        <p:txBody>
          <a:bodyPr wrap="none" lIns="0" tIns="0" rIns="0" bIns="0" rtlCol="0" anchor="t"/>
          <a:lstStyle/>
          <a:p>
            <a:pPr marL="0" indent="0" algn="ctr">
              <a:lnSpc>
                <a:spcPts val="7100"/>
              </a:lnSpc>
              <a:buNone/>
            </a:pPr>
            <a:r>
              <a:rPr lang="en-US" sz="5650" dirty="0">
                <a:solidFill>
                  <a:srgbClr val="F2F2F3"/>
                </a:solidFill>
                <a:latin typeface="Poppins Light" pitchFamily="34" charset="0"/>
                <a:ea typeface="Poppins Light" pitchFamily="34" charset="-122"/>
                <a:cs typeface="Poppins Light" pitchFamily="34" charset="-120"/>
              </a:rPr>
              <a:t>Thank You!</a:t>
            </a:r>
            <a:endParaRPr lang="en-US" sz="5650" dirty="0"/>
          </a:p>
        </p:txBody>
      </p:sp>
      <p:sp>
        <p:nvSpPr>
          <p:cNvPr id="3" name="Text 1"/>
          <p:cNvSpPr/>
          <p:nvPr/>
        </p:nvSpPr>
        <p:spPr>
          <a:xfrm>
            <a:off x="5824657" y="1843445"/>
            <a:ext cx="2980968" cy="326588"/>
          </a:xfrm>
          <a:prstGeom prst="rect">
            <a:avLst/>
          </a:prstGeom>
          <a:noFill/>
          <a:ln/>
        </p:spPr>
        <p:txBody>
          <a:bodyPr wrap="none" lIns="0" tIns="0" rIns="0" bIns="0" rtlCol="0" anchor="t"/>
          <a:lstStyle/>
          <a:p>
            <a:pPr marL="0" indent="0" algn="ctr">
              <a:lnSpc>
                <a:spcPts val="2550"/>
              </a:lnSpc>
              <a:buNone/>
            </a:pPr>
            <a:r>
              <a:rPr lang="en-US" sz="2050" dirty="0">
                <a:solidFill>
                  <a:srgbClr val="F2F2F3"/>
                </a:solidFill>
                <a:latin typeface="Poppins Light" pitchFamily="34" charset="0"/>
                <a:ea typeface="Poppins Light" pitchFamily="34" charset="-122"/>
                <a:cs typeface="Poppins Light" pitchFamily="34" charset="-120"/>
              </a:rPr>
              <a:t>Questions &amp; Discussion</a:t>
            </a:r>
            <a:endParaRPr lang="en-US" sz="2050" dirty="0"/>
          </a:p>
        </p:txBody>
      </p:sp>
      <p:sp>
        <p:nvSpPr>
          <p:cNvPr id="4" name="Text 2"/>
          <p:cNvSpPr/>
          <p:nvPr/>
        </p:nvSpPr>
        <p:spPr>
          <a:xfrm>
            <a:off x="731758" y="2459117"/>
            <a:ext cx="13166884" cy="321350"/>
          </a:xfrm>
          <a:prstGeom prst="rect">
            <a:avLst/>
          </a:prstGeom>
          <a:noFill/>
          <a:ln/>
        </p:spPr>
        <p:txBody>
          <a:bodyPr wrap="none" lIns="0" tIns="0" rIns="0" bIns="0" rtlCol="0" anchor="t"/>
          <a:lstStyle/>
          <a:p>
            <a:pPr marL="0" indent="0" algn="ctr">
              <a:lnSpc>
                <a:spcPts val="2500"/>
              </a:lnSpc>
              <a:buNone/>
            </a:pPr>
            <a:r>
              <a:rPr lang="en-US" sz="1600" dirty="0">
                <a:solidFill>
                  <a:srgbClr val="E5E0DF"/>
                </a:solidFill>
                <a:latin typeface="Roboto Light" pitchFamily="34" charset="0"/>
                <a:ea typeface="Roboto Light" pitchFamily="34" charset="-122"/>
                <a:cs typeface="Roboto Light" pitchFamily="34" charset="-120"/>
              </a:rPr>
              <a:t>EL MANSSOURI Ismail · EL AZIZI Mohamed Taha · IBENOUZI Ismail · EL KHIYATI Mouataze</a:t>
            </a:r>
            <a:endParaRPr lang="en-US" sz="1600" dirty="0"/>
          </a:p>
        </p:txBody>
      </p:sp>
      <p:sp>
        <p:nvSpPr>
          <p:cNvPr id="5" name="Text 3"/>
          <p:cNvSpPr/>
          <p:nvPr/>
        </p:nvSpPr>
        <p:spPr>
          <a:xfrm>
            <a:off x="731758" y="2997279"/>
            <a:ext cx="13166884" cy="321350"/>
          </a:xfrm>
          <a:prstGeom prst="rect">
            <a:avLst/>
          </a:prstGeom>
          <a:noFill/>
          <a:ln/>
        </p:spPr>
        <p:txBody>
          <a:bodyPr wrap="none" lIns="0" tIns="0" rIns="0" bIns="0" rtlCol="0" anchor="t"/>
          <a:lstStyle/>
          <a:p>
            <a:pPr marL="0" indent="0" algn="ctr">
              <a:lnSpc>
                <a:spcPts val="2500"/>
              </a:lnSpc>
              <a:buNone/>
            </a:pPr>
            <a:r>
              <a:rPr lang="en-US" sz="1600" u="sng" dirty="0">
                <a:solidFill>
                  <a:srgbClr val="F2F2F3"/>
                </a:solidFill>
                <a:latin typeface="Roboto Light" pitchFamily="34" charset="0"/>
                <a:ea typeface="Roboto Light" pitchFamily="34" charset="-122"/>
                <a:cs typeface="Roboto Light" pitchFamily="34" charset="-120"/>
                <a:hlinkClick r:id="rId3">
                  <a:extLst>
                    <a:ext uri="{A12FA001-AC4F-418D-AE19-62706E023703}">
                      <ahyp:hlinkClr xmlns:ahyp="http://schemas.microsoft.com/office/drawing/2018/hyperlinkcolor" val="tx"/>
                    </a:ext>
                  </a:extLst>
                </a:hlinkClick>
              </a:rPr>
              <a:t>github.com/ismailelmanssouri/barcode-qr-scanner</a:t>
            </a:r>
            <a:endParaRPr lang="en-US" sz="16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1758" y="3535442"/>
            <a:ext cx="522684" cy="522684"/>
          </a:xfrm>
          <a:prstGeom prst="rect">
            <a:avLst/>
          </a:prstGeom>
        </p:spPr>
      </p:pic>
      <p:sp>
        <p:nvSpPr>
          <p:cNvPr id="7" name="Text 4"/>
          <p:cNvSpPr/>
          <p:nvPr/>
        </p:nvSpPr>
        <p:spPr>
          <a:xfrm>
            <a:off x="731758" y="4298990"/>
            <a:ext cx="2613779" cy="326588"/>
          </a:xfrm>
          <a:prstGeom prst="rect">
            <a:avLst/>
          </a:prstGeom>
          <a:noFill/>
          <a:ln/>
        </p:spPr>
        <p:txBody>
          <a:bodyPr wrap="none" lIns="0" tIns="0" rIns="0" bIns="0" rtlCol="0" anchor="t"/>
          <a:lstStyle/>
          <a:p>
            <a:pPr marL="0" indent="0" algn="l">
              <a:lnSpc>
                <a:spcPts val="2550"/>
              </a:lnSpc>
              <a:buNone/>
            </a:pPr>
            <a:r>
              <a:rPr lang="en-US" sz="2050" dirty="0">
                <a:solidFill>
                  <a:srgbClr val="E5E0DF"/>
                </a:solidFill>
                <a:latin typeface="Poppins Light" pitchFamily="34" charset="0"/>
                <a:ea typeface="Poppins Light" pitchFamily="34" charset="-122"/>
                <a:cs typeface="Poppins Light" pitchFamily="34" charset="-120"/>
              </a:rPr>
              <a:t>Python</a:t>
            </a:r>
            <a:endParaRPr lang="en-US" sz="20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35572" y="3535442"/>
            <a:ext cx="522684" cy="522684"/>
          </a:xfrm>
          <a:prstGeom prst="rect">
            <a:avLst/>
          </a:prstGeom>
        </p:spPr>
      </p:pic>
      <p:sp>
        <p:nvSpPr>
          <p:cNvPr id="9" name="Text 5"/>
          <p:cNvSpPr/>
          <p:nvPr/>
        </p:nvSpPr>
        <p:spPr>
          <a:xfrm>
            <a:off x="7435572" y="4298990"/>
            <a:ext cx="2613779" cy="326588"/>
          </a:xfrm>
          <a:prstGeom prst="rect">
            <a:avLst/>
          </a:prstGeom>
          <a:noFill/>
          <a:ln/>
        </p:spPr>
        <p:txBody>
          <a:bodyPr wrap="none" lIns="0" tIns="0" rIns="0" bIns="0" rtlCol="0" anchor="t"/>
          <a:lstStyle/>
          <a:p>
            <a:pPr marL="0" indent="0" algn="l">
              <a:lnSpc>
                <a:spcPts val="2550"/>
              </a:lnSpc>
              <a:buNone/>
            </a:pPr>
            <a:r>
              <a:rPr lang="en-US" sz="2050" dirty="0">
                <a:solidFill>
                  <a:srgbClr val="E5E0DF"/>
                </a:solidFill>
                <a:latin typeface="Poppins Light" pitchFamily="34" charset="0"/>
                <a:ea typeface="Poppins Light" pitchFamily="34" charset="-122"/>
                <a:cs typeface="Poppins Light" pitchFamily="34" charset="-120"/>
              </a:rPr>
              <a:t>OpenCV</a:t>
            </a:r>
            <a:endParaRPr lang="en-US" sz="20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1758" y="5011103"/>
            <a:ext cx="522684" cy="522684"/>
          </a:xfrm>
          <a:prstGeom prst="rect">
            <a:avLst/>
          </a:prstGeom>
        </p:spPr>
      </p:pic>
      <p:sp>
        <p:nvSpPr>
          <p:cNvPr id="11" name="Text 6"/>
          <p:cNvSpPr/>
          <p:nvPr/>
        </p:nvSpPr>
        <p:spPr>
          <a:xfrm>
            <a:off x="731758" y="5774650"/>
            <a:ext cx="2613779" cy="326588"/>
          </a:xfrm>
          <a:prstGeom prst="rect">
            <a:avLst/>
          </a:prstGeom>
          <a:noFill/>
          <a:ln/>
        </p:spPr>
        <p:txBody>
          <a:bodyPr wrap="none" lIns="0" tIns="0" rIns="0" bIns="0" rtlCol="0" anchor="t"/>
          <a:lstStyle/>
          <a:p>
            <a:pPr marL="0" indent="0" algn="l">
              <a:lnSpc>
                <a:spcPts val="2550"/>
              </a:lnSpc>
              <a:buNone/>
            </a:pPr>
            <a:r>
              <a:rPr lang="en-US" sz="2050" dirty="0">
                <a:solidFill>
                  <a:srgbClr val="E5E0DF"/>
                </a:solidFill>
                <a:latin typeface="Poppins Light" pitchFamily="34" charset="0"/>
                <a:ea typeface="Poppins Light" pitchFamily="34" charset="-122"/>
                <a:cs typeface="Poppins Light" pitchFamily="34" charset="-120"/>
              </a:rPr>
              <a:t>pyzbar</a:t>
            </a:r>
            <a:endParaRPr lang="en-US" sz="20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5572" y="5011103"/>
            <a:ext cx="522684" cy="522684"/>
          </a:xfrm>
          <a:prstGeom prst="rect">
            <a:avLst/>
          </a:prstGeom>
        </p:spPr>
      </p:pic>
      <p:sp>
        <p:nvSpPr>
          <p:cNvPr id="13" name="Text 7"/>
          <p:cNvSpPr/>
          <p:nvPr/>
        </p:nvSpPr>
        <p:spPr>
          <a:xfrm>
            <a:off x="7435572" y="5774650"/>
            <a:ext cx="2613779" cy="326588"/>
          </a:xfrm>
          <a:prstGeom prst="rect">
            <a:avLst/>
          </a:prstGeom>
          <a:noFill/>
          <a:ln/>
        </p:spPr>
        <p:txBody>
          <a:bodyPr wrap="none" lIns="0" tIns="0" rIns="0" bIns="0" rtlCol="0" anchor="t"/>
          <a:lstStyle/>
          <a:p>
            <a:pPr marL="0" indent="0" algn="l">
              <a:lnSpc>
                <a:spcPts val="2550"/>
              </a:lnSpc>
              <a:buNone/>
            </a:pPr>
            <a:r>
              <a:rPr lang="en-US" sz="2050" dirty="0">
                <a:solidFill>
                  <a:srgbClr val="E5E0DF"/>
                </a:solidFill>
                <a:latin typeface="Poppins Light" pitchFamily="34" charset="0"/>
                <a:ea typeface="Poppins Light" pitchFamily="34" charset="-122"/>
                <a:cs typeface="Poppins Light" pitchFamily="34" charset="-120"/>
              </a:rPr>
              <a:t>Tkinter</a:t>
            </a:r>
            <a:endParaRPr lang="en-US" sz="205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1758" y="6486763"/>
            <a:ext cx="522684" cy="522684"/>
          </a:xfrm>
          <a:prstGeom prst="rect">
            <a:avLst/>
          </a:prstGeom>
        </p:spPr>
      </p:pic>
      <p:sp>
        <p:nvSpPr>
          <p:cNvPr id="15" name="Text 8"/>
          <p:cNvSpPr/>
          <p:nvPr/>
        </p:nvSpPr>
        <p:spPr>
          <a:xfrm>
            <a:off x="731758" y="7250311"/>
            <a:ext cx="2613779" cy="326588"/>
          </a:xfrm>
          <a:prstGeom prst="rect">
            <a:avLst/>
          </a:prstGeom>
          <a:noFill/>
          <a:ln/>
        </p:spPr>
        <p:txBody>
          <a:bodyPr wrap="none" lIns="0" tIns="0" rIns="0" bIns="0" rtlCol="0" anchor="t"/>
          <a:lstStyle/>
          <a:p>
            <a:pPr marL="0" indent="0" algn="l">
              <a:lnSpc>
                <a:spcPts val="2550"/>
              </a:lnSpc>
              <a:buNone/>
            </a:pPr>
            <a:r>
              <a:rPr lang="en-US" sz="2050" dirty="0">
                <a:solidFill>
                  <a:srgbClr val="E5E0DF"/>
                </a:solidFill>
                <a:latin typeface="Poppins Light" pitchFamily="34" charset="0"/>
                <a:ea typeface="Poppins Light" pitchFamily="34" charset="-122"/>
                <a:cs typeface="Poppins Light" pitchFamily="34" charset="-120"/>
              </a:rPr>
              <a:t>NumPy</a:t>
            </a:r>
            <a:endParaRPr lang="en-US" sz="2050" dirty="0"/>
          </a:p>
        </p:txBody>
      </p:sp>
      <p:pic>
        <p:nvPicPr>
          <p:cNvPr id="16"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35572" y="6486763"/>
            <a:ext cx="522684" cy="522684"/>
          </a:xfrm>
          <a:prstGeom prst="rect">
            <a:avLst/>
          </a:prstGeom>
        </p:spPr>
      </p:pic>
      <p:sp>
        <p:nvSpPr>
          <p:cNvPr id="17" name="Text 9"/>
          <p:cNvSpPr/>
          <p:nvPr/>
        </p:nvSpPr>
        <p:spPr>
          <a:xfrm>
            <a:off x="7435572" y="7250311"/>
            <a:ext cx="2613779" cy="326588"/>
          </a:xfrm>
          <a:prstGeom prst="rect">
            <a:avLst/>
          </a:prstGeom>
          <a:noFill/>
          <a:ln/>
        </p:spPr>
        <p:txBody>
          <a:bodyPr wrap="none" lIns="0" tIns="0" rIns="0" bIns="0" rtlCol="0" anchor="t"/>
          <a:lstStyle/>
          <a:p>
            <a:pPr marL="0" indent="0" algn="l">
              <a:lnSpc>
                <a:spcPts val="2550"/>
              </a:lnSpc>
              <a:buNone/>
            </a:pPr>
            <a:r>
              <a:rPr lang="en-US" sz="2050" dirty="0">
                <a:solidFill>
                  <a:srgbClr val="E5E0DF"/>
                </a:solidFill>
                <a:latin typeface="Poppins Light" pitchFamily="34" charset="0"/>
                <a:ea typeface="Poppins Light" pitchFamily="34" charset="-122"/>
                <a:cs typeface="Poppins Light" pitchFamily="34" charset="-120"/>
              </a:rPr>
              <a:t>Matplotlib</a:t>
            </a:r>
            <a:endParaRPr lang="en-US" sz="2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693</Words>
  <Application>Microsoft Office PowerPoint</Application>
  <PresentationFormat>Custom</PresentationFormat>
  <Paragraphs>116</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Poppins Light</vt:lpstr>
      <vt:lpstr>Roboto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Ismail EL MANSSOURI</cp:lastModifiedBy>
  <cp:revision>3</cp:revision>
  <dcterms:created xsi:type="dcterms:W3CDTF">2026-04-18T00:40:40Z</dcterms:created>
  <dcterms:modified xsi:type="dcterms:W3CDTF">2026-04-19T23:14:05Z</dcterms:modified>
</cp:coreProperties>
</file>